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9EC199-536A-428B-9BDC-CC155C7E13A1}">
  <a:tblStyle styleId="{399EC199-536A-428B-9BDC-CC155C7E13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(~45 giây)</a:t>
            </a:r>
            <a:br>
              <a:rPr lang="en-US"/>
            </a:br>
            <a:r>
              <a:rPr lang="en-US"/>
              <a:t>Nhóm mình chọn Scenario 2 — Hospital Clinical Support Assistant.</a:t>
            </a:r>
            <a:br>
              <a:rPr lang="en-US"/>
            </a:br>
            <a:r>
              <a:rPr lang="en-US"/>
              <a:t>Bài toán: tại bệnh viện đa khoa, bác sĩ và điều dưỡng mỗi ca mất 15–20 phút để tra cứu quy trình nội bộ, tóm tắt hồ sơ bệnh nhân, hoặc trả lời câu hỏi hành chính lặp lại như giờ thăm bệnh, cách thanh toán BHYT.</a:t>
            </a:r>
            <a:br>
              <a:rPr lang="en-US"/>
            </a:br>
            <a:r>
              <a:rPr lang="en-US"/>
              <a:t>Hệ thống đề xuất giúp rút ngắn xuống ~30 giây. Người dùng gồm 3 nhóm: bác sĩ, điều dưỡng, nhân viên tiếp nhận — mỗi nhóm nhu cầu khác nên cần phân quyền rõ ràng.</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(~50 giây)</a:t>
            </a:r>
            <a:br>
              <a:rPr lang="en-US"/>
            </a:br>
            <a:r>
              <a:rPr lang="en-US"/>
              <a:t>Trước khi nói kiến trúc, cần làm rõ bối cảnh enterprise vì nó quyết định toàn bộ quyết định kỹ thuật phía sau.</a:t>
            </a:r>
            <a:br>
              <a:rPr lang="en-US"/>
            </a:br>
            <a:r>
              <a:rPr lang="en-US"/>
              <a:t>Dữ liệu đụng đến gồm bệnh án điện tử, kết quả xét nghiệm — đây là PHI, cực kỳ nhạy cảm. Theo Luật Khám bệnh chữa bệnh 2023, loại dữ liệu này không được rời khỏi hạ tầng bệnh viện.</a:t>
            </a:r>
            <a:br>
              <a:rPr lang="en-US"/>
            </a:br>
            <a:r>
              <a:rPr lang="en-US"/>
              <a:t>Ba ràng buộc lớn nhất: (1) tuân thủ pháp lý với PHI; (2) tích hợp HIS legacy không thể migration; (3) phân quyền nghiêm ngặt — bác sĩ chỉ thấy bệnh nhân của mình.</a:t>
            </a:r>
            <a:br>
              <a:rPr lang="en-US"/>
            </a:br>
            <a:r>
              <a:rPr lang="en-US"/>
              <a:t>Về bảo mật: mã hóa AES-256 at rest, TLS 1.3 in transit, BAA bắt buộc với mọi cloud provider xử lý PHI, audit log immutable giữ 6 năm.</a:t>
            </a:r>
            <a:br>
              <a:rPr lang="en-US"/>
            </a:br>
            <a:r>
              <a:rPr lang="en-US"/>
              <a:t>Quan trọng: nếu AI trả lời sai thông tin lâm sàng, hậu quả ảnh hưởng trực tiếp đến bệnh nhân.</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(~60 giây)</a:t>
            </a:r>
            <a:br>
              <a:rPr lang="en-US"/>
            </a:br>
            <a:r>
              <a:rPr lang="en-US"/>
              <a:t>Từ những ràng buộc đó, mình chọn kiến trúc Hybrid.</a:t>
            </a:r>
            <a:br>
              <a:rPr lang="en-US"/>
            </a:br>
            <a:r>
              <a:rPr lang="en-US"/>
              <a:t>On-prem chịu trách nhiệm toàn bộ phần nhạy cảm: HIS legacy kết nối qua Mirth Connect — đây là HL7 integration engine — convert HL7 v2 sang FHIR rồi đẩy vào RAG pipeline. Kafka queue buffer dữ liệu khi EMR offline, đảm bảo không mất tin. Vector DB dùng Qdrant tự host với namespace isolation theo department. Audit log immutable cũng nằm ở đây.</a:t>
            </a:r>
            <a:br>
              <a:rPr lang="en-US"/>
            </a:br>
            <a:r>
              <a:rPr lang="en-US"/>
              <a:t>Cloud chỉ xử lý LLM inference — và chỉ nhận prompt đã được tokenize PHI, không có thông tin định danh bệnh nhân thô.</a:t>
            </a:r>
            <a:br>
              <a:rPr lang="en-US"/>
            </a:br>
            <a:r>
              <a:rPr lang="en-US"/>
              <a:t>Tại sao không full cloud? PHI bắt buộc ở on-prem theo luật.</a:t>
            </a:r>
            <a:br>
              <a:rPr lang="en-US"/>
            </a:br>
            <a:r>
              <a:rPr lang="en-US"/>
              <a:t>Tại sao không full on-prem? Chạy LLM frontier on-prem chi phí server gấp 3–4 lần.</a:t>
            </a:r>
            <a:br>
              <a:rPr lang="en-US"/>
            </a:br>
            <a:r>
              <a:rPr lang="en-US"/>
              <a:t>Phân quyền dùng RBAC kết hợp ABAC — không chỉ theo role mà còn theo context: ward, department, ca trực.</a:t>
            </a:r>
            <a:br>
              <a:rPr lang="en-US"/>
            </a:br>
            <a:r>
              <a:rPr lang="en-US"/>
              <a:t>Human review gate bắt buộc với mọi câu trả lời lâm sàng.</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(~45 giây)</a:t>
            </a:r>
            <a:br>
              <a:rPr lang="en-US"/>
            </a:br>
            <a:r>
              <a:rPr lang="en-US"/>
              <a:t>Về cost, mình bóc tách theo từng thành phần thay vì chỉ nhìn vào token.</a:t>
            </a:r>
            <a:br>
              <a:rPr lang="en-US"/>
            </a:br>
            <a:r>
              <a:rPr lang="en-US"/>
              <a:t>MVP 50 users: tổng ~$426/tháng. Scale lên 300 users: ~$1.660/tháng.</a:t>
            </a:r>
            <a:br>
              <a:rPr lang="en-US"/>
            </a:br>
            <a:r>
              <a:rPr lang="en-US"/>
              <a:t>Cost driver lớn nhất không phải LLM API — mà là human review labor, chiếm 47% ở MVP. Đây là hidden cost hầu hết estimate AI system đều bỏ qua.</a:t>
            </a:r>
            <a:br>
              <a:rPr lang="en-US"/>
            </a:br>
            <a:r>
              <a:rPr lang="en-US"/>
              <a:t>Khi scale 5–10x: LLM tăng tuyến tính, on-prem infrastructure tăng bước nhảy — cần đầu tư server khi vượt ngưỡng.</a:t>
            </a:r>
            <a:br>
              <a:rPr lang="en-US"/>
            </a:br>
            <a:r>
              <a:rPr lang="en-US"/>
              <a:t>Hidden cost khác: re-indexing khi SOP cập nhật mỗi quý, training nhân viên, compliance audit hàng năm.</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(~40 giây)</a:t>
            </a:r>
            <a:br>
              <a:rPr lang="en-US"/>
            </a:br>
            <a:r>
              <a:rPr lang="en-US"/>
              <a:t>Ba chiến lược tối ưu được chọn:</a:t>
            </a:r>
            <a:br>
              <a:rPr lang="en-US"/>
            </a:br>
            <a:r>
              <a:rPr lang="en-US"/>
              <a:t>(1) Model routing — câu hỏi FAQ dùng Claude Haiku, lâm sàng phức tạp dùng Sonnet. Tiết kiệm 40% LLM cost. Áp dụng ngay từ MVP.</a:t>
            </a:r>
            <a:br>
              <a:rPr lang="en-US"/>
            </a:br>
            <a:r>
              <a:rPr lang="en-US"/>
              <a:t>(2) Semantic caching — cache câu hỏi hành chính lặp lại (giờ thăm bệnh, đặt lịch). Không cache lâm sàng vì risk stale data quá cao. Tiết kiệm 25% calls.</a:t>
            </a:r>
            <a:br>
              <a:rPr lang="en-US"/>
            </a:br>
            <a:r>
              <a:rPr lang="en-US"/>
              <a:t>(3) Selective human review — chỉ review khi confidence score thấp hoặc category nguy cơ cao. Để giai đoạn Growth vì cần data lịch sử để calibrate threshold. Tiết kiệm 50% review cost.</a:t>
            </a:r>
            <a:br>
              <a:rPr lang="en-US"/>
            </a:br>
            <a:r>
              <a:rPr lang="en-US"/>
              <a:t>Kết quả: giảm 34–37% tổng chi phí.</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(~45 giây)</a:t>
            </a:r>
            <a:br>
              <a:rPr lang="en-US"/>
            </a:br>
            <a:r>
              <a:rPr lang="en-US"/>
              <a:t>Về reliability, mình thiết kế fallback chain 4 lớp.</a:t>
            </a:r>
            <a:br>
              <a:rPr lang="en-US"/>
            </a:br>
            <a:r>
              <a:rPr lang="en-US"/>
              <a:t>Claude/GPT-4o cho lâm sàng. Nếu provider lỗi 3 lần, circuit breaker switch sang Azure OpenAI / Anthropic. Nếu cloud down, fallback về Llama3/Mistral self-hosted on-prem. Cuối cùng là keyword search kèm cảnh báo.</a:t>
            </a:r>
            <a:br>
              <a:rPr lang="en-US"/>
            </a:br>
            <a:r>
              <a:rPr lang="en-US"/>
              <a:t>Kafka queue xử lý async batch summaries và embedding rebuild — khi EMR offline, data ingest vẫn buffer và replay sau.</a:t>
            </a:r>
            <a:br>
              <a:rPr lang="en-US"/>
            </a:br>
            <a:r>
              <a:rPr lang="en-US"/>
              <a:t>Ba failure scenario: traffic đột biến mùa dịch — priority queue ưu tiên bác sĩ trực, rate limit theo role. Provider down — fallback chain tự động. Hallucination lâm sàng — nguy hiểm nhất, xử lý bằng NeMo guardrails kết hợp human review gate bắt buộc và citation trích nguồn từng câu.</a:t>
            </a:r>
            <a:br>
              <a:rPr lang="en-US"/>
            </a:br>
            <a:r>
              <a:rPr lang="en-US"/>
              <a:t>SLA: p95 latency dưới 3 giây, error rate dưới 1%, uptime 99.5%.</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(~35 giây)</a:t>
            </a:r>
            <a:br>
              <a:rPr lang="en-US"/>
            </a:br>
            <a:r>
              <a:rPr lang="en-US"/>
              <a:t>Nhóm chọn AI Engineering Track cho Phase 2.</a:t>
            </a:r>
            <a:br>
              <a:rPr lang="en-US"/>
            </a:br>
            <a:r>
              <a:rPr lang="en-US"/>
              <a:t>Lý do: nhóm mạnh nhất ở RAG, evaluation framework và agent design — đúng với track này.</a:t>
            </a:r>
            <a:br>
              <a:rPr lang="en-US"/>
            </a:br>
            <a:r>
              <a:rPr lang="en-US"/>
              <a:t>Roadmap 8 tuần: Sprint 1 — production-ready RAG với streaming và semantic caching. Sprint 2 — monitoring dashboard và hallucination detection. Sprint 3 — prototype tích hợp HIS qua HL7 FHIR. Sprint 4 — load testing và cost optimization validation.</a:t>
            </a:r>
            <a:br>
              <a:rPr lang="en-US"/>
            </a:br>
            <a:r>
              <a:rPr lang="en-US"/>
              <a:t>Bước tiếp theo ngay sau hôm nay: user interview với 1 bệnh viện nhỏ để validate use case, và implement semantic caching từ codebase Lab 14 đã có sẵn.</a:t>
            </a:r>
            <a:br>
              <a:rPr lang="en-US"/>
            </a:br>
            <a:r>
              <a:rPr lang="en-US"/>
              <a:t>Cảm ơn mọi người, nhóm sẵn sàng nhận câu hỏi.</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445E"/>
        </a:solidFill>
      </p:bgPr>
    </p:bg>
    <p:spTree>
      <p:nvGrpSpPr>
        <p:cNvPr id="15" name="Shape 15"/>
        <p:cNvGrpSpPr/>
        <p:nvPr/>
      </p:nvGrpSpPr>
      <p:grpSpPr>
        <a:xfrm>
          <a:off x="0" y="0"/>
          <a:ext cx="0" cy="0"/>
          <a:chOff x="0" y="0"/>
          <a:chExt cx="0" cy="0"/>
        </a:xfrm>
      </p:grpSpPr>
      <p:sp>
        <p:nvSpPr>
          <p:cNvPr id="16" name="Google Shape;16;p3"/>
          <p:cNvSpPr/>
          <p:nvPr/>
        </p:nvSpPr>
        <p:spPr>
          <a:xfrm>
            <a:off x="6858000" y="-1188720"/>
            <a:ext cx="4389120" cy="4389120"/>
          </a:xfrm>
          <a:prstGeom prst="ellipse">
            <a:avLst/>
          </a:prstGeom>
          <a:solidFill>
            <a:srgbClr val="028090">
              <a:alpha val="21960"/>
            </a:srgbClr>
          </a:solidFill>
          <a:ln cap="flat" cmpd="sng" w="12700">
            <a:solidFill>
              <a:srgbClr val="028090">
                <a:alpha val="2196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31520" y="3291840"/>
            <a:ext cx="2743200" cy="2743200"/>
          </a:xfrm>
          <a:prstGeom prst="ellipse">
            <a:avLst/>
          </a:prstGeom>
          <a:solidFill>
            <a:srgbClr val="00A896">
              <a:alpha val="16078"/>
            </a:srgbClr>
          </a:solidFill>
          <a:ln cap="flat" cmpd="sng" w="12700">
            <a:solidFill>
              <a:srgbClr val="00A896">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02920" y="914400"/>
            <a:ext cx="1737360" cy="2926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02920" y="914400"/>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NHÓM C401-F2</a:t>
            </a:r>
            <a:endParaRPr b="0" i="0" sz="800" u="none" cap="none" strike="noStrike">
              <a:solidFill>
                <a:schemeClr val="dk1"/>
              </a:solidFill>
              <a:latin typeface="Calibri"/>
              <a:ea typeface="Calibri"/>
              <a:cs typeface="Calibri"/>
              <a:sym typeface="Calibri"/>
            </a:endParaRPr>
          </a:p>
        </p:txBody>
      </p:sp>
      <p:sp>
        <p:nvSpPr>
          <p:cNvPr id="20" name="Google Shape;20;p3"/>
          <p:cNvSpPr/>
          <p:nvPr/>
        </p:nvSpPr>
        <p:spPr>
          <a:xfrm>
            <a:off x="502920" y="1298448"/>
            <a:ext cx="8229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200"/>
              <a:buFont typeface="Trebuchet MS"/>
              <a:buNone/>
            </a:pPr>
            <a:r>
              <a:rPr b="1" i="0" lang="en-US" sz="6200" u="none" cap="none" strike="noStrike">
                <a:solidFill>
                  <a:srgbClr val="FFFFFF"/>
                </a:solidFill>
                <a:latin typeface="Trebuchet MS"/>
                <a:ea typeface="Trebuchet MS"/>
                <a:cs typeface="Trebuchet MS"/>
                <a:sym typeface="Trebuchet MS"/>
              </a:rPr>
              <a:t>ClinicalAI</a:t>
            </a:r>
            <a:endParaRPr b="0" i="0" sz="6200" u="none" cap="none" strike="noStrike">
              <a:solidFill>
                <a:schemeClr val="dk1"/>
              </a:solidFill>
              <a:latin typeface="Calibri"/>
              <a:ea typeface="Calibri"/>
              <a:cs typeface="Calibri"/>
              <a:sym typeface="Calibri"/>
            </a:endParaRPr>
          </a:p>
        </p:txBody>
      </p:sp>
      <p:sp>
        <p:nvSpPr>
          <p:cNvPr id="21" name="Google Shape;21;p3"/>
          <p:cNvSpPr/>
          <p:nvPr/>
        </p:nvSpPr>
        <p:spPr>
          <a:xfrm>
            <a:off x="502920" y="2423160"/>
            <a:ext cx="77724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900"/>
              <a:buFont typeface="Trebuchet MS"/>
              <a:buNone/>
            </a:pPr>
            <a:r>
              <a:rPr b="0" i="0" lang="en-US" sz="1900" u="none" cap="none" strike="noStrike">
                <a:solidFill>
                  <a:srgbClr val="A8D8EA"/>
                </a:solidFill>
                <a:latin typeface="Trebuchet MS"/>
                <a:ea typeface="Trebuchet MS"/>
                <a:cs typeface="Trebuchet MS"/>
                <a:sym typeface="Trebuchet MS"/>
              </a:rPr>
              <a:t>Hospital Clinical Support Assistant</a:t>
            </a:r>
            <a:endParaRPr b="0" i="0" sz="1900" u="none" cap="none" strike="noStrike">
              <a:solidFill>
                <a:schemeClr val="dk1"/>
              </a:solidFill>
              <a:latin typeface="Calibri"/>
              <a:ea typeface="Calibri"/>
              <a:cs typeface="Calibri"/>
              <a:sym typeface="Calibri"/>
            </a:endParaRPr>
          </a:p>
        </p:txBody>
      </p:sp>
      <p:sp>
        <p:nvSpPr>
          <p:cNvPr id="22" name="Google Shape;22;p3"/>
          <p:cNvSpPr/>
          <p:nvPr/>
        </p:nvSpPr>
        <p:spPr>
          <a:xfrm>
            <a:off x="502920" y="294436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C8D9"/>
              </a:buClr>
              <a:buSzPts val="1050"/>
              <a:buFont typeface="Calibri"/>
              <a:buNone/>
            </a:pPr>
            <a:r>
              <a:rPr b="0" i="1" lang="en-US" sz="1050" u="none" cap="none" strike="noStrike">
                <a:solidFill>
                  <a:srgbClr val="7EC8D9"/>
                </a:solidFill>
                <a:latin typeface="Calibri"/>
                <a:ea typeface="Calibri"/>
                <a:cs typeface="Calibri"/>
                <a:sym typeface="Calibri"/>
              </a:rPr>
              <a:t>Giảm thời gian tra cứu từ 15 phút → 30 giây  ·  Hỗ trợ 300 nhân viên y tế  ·  Scenario 2</a:t>
            </a:r>
            <a:endParaRPr b="0" i="0" sz="1050" u="none" cap="none" strike="noStrike">
              <a:solidFill>
                <a:schemeClr val="dk1"/>
              </a:solidFill>
              <a:latin typeface="Calibri"/>
              <a:ea typeface="Calibri"/>
              <a:cs typeface="Calibri"/>
              <a:sym typeface="Calibri"/>
            </a:endParaRPr>
          </a:p>
        </p:txBody>
      </p:sp>
      <p:sp>
        <p:nvSpPr>
          <p:cNvPr id="23" name="Google Shape;23;p3"/>
          <p:cNvSpPr/>
          <p:nvPr/>
        </p:nvSpPr>
        <p:spPr>
          <a:xfrm>
            <a:off x="502920" y="3493008"/>
            <a:ext cx="2743200" cy="1371600"/>
          </a:xfrm>
          <a:prstGeom prst="rect">
            <a:avLst/>
          </a:prstGeom>
          <a:solidFill>
            <a:srgbClr val="FFFFFF">
              <a:alpha val="10196"/>
            </a:srgbClr>
          </a:solidFill>
          <a:ln cap="flat" cmpd="sng" w="12700">
            <a:solidFill>
              <a:srgbClr val="FFFFFF">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502920" y="3493008"/>
            <a:ext cx="2743200" cy="54864"/>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640080" y="3602736"/>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~80</a:t>
            </a:r>
            <a:endParaRPr b="0" i="0" sz="3000" u="none" cap="none" strike="noStrike">
              <a:solidFill>
                <a:schemeClr val="dk1"/>
              </a:solidFill>
              <a:latin typeface="Calibri"/>
              <a:ea typeface="Calibri"/>
              <a:cs typeface="Calibri"/>
              <a:sym typeface="Calibri"/>
            </a:endParaRPr>
          </a:p>
        </p:txBody>
      </p:sp>
      <p:sp>
        <p:nvSpPr>
          <p:cNvPr id="26" name="Google Shape;26;p3"/>
          <p:cNvSpPr/>
          <p:nvPr/>
        </p:nvSpPr>
        <p:spPr>
          <a:xfrm>
            <a:off x="640080" y="407822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200"/>
              <a:buFont typeface="Calibri"/>
              <a:buNone/>
            </a:pPr>
            <a:r>
              <a:rPr b="1" i="0" lang="en-US" sz="1200" u="none" cap="none" strike="noStrike">
                <a:solidFill>
                  <a:srgbClr val="A8D8EA"/>
                </a:solidFill>
                <a:latin typeface="Calibri"/>
                <a:ea typeface="Calibri"/>
                <a:cs typeface="Calibri"/>
                <a:sym typeface="Calibri"/>
              </a:rPr>
              <a:t>Bác sĩ</a:t>
            </a:r>
            <a:endParaRPr b="0" i="0" sz="1200" u="none" cap="none" strike="noStrike">
              <a:solidFill>
                <a:schemeClr val="dk1"/>
              </a:solidFill>
              <a:latin typeface="Calibri"/>
              <a:ea typeface="Calibri"/>
              <a:cs typeface="Calibri"/>
              <a:sym typeface="Calibri"/>
            </a:endParaRPr>
          </a:p>
        </p:txBody>
      </p:sp>
      <p:sp>
        <p:nvSpPr>
          <p:cNvPr id="27" name="Google Shape;27;p3"/>
          <p:cNvSpPr/>
          <p:nvPr/>
        </p:nvSpPr>
        <p:spPr>
          <a:xfrm>
            <a:off x="640080" y="4325112"/>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C8D9"/>
              </a:buClr>
              <a:buSzPts val="950"/>
              <a:buFont typeface="Calibri"/>
              <a:buNone/>
            </a:pPr>
            <a:r>
              <a:rPr b="0" i="0" lang="en-US" sz="950" u="none" cap="none" strike="noStrike">
                <a:solidFill>
                  <a:srgbClr val="7EC8D9"/>
                </a:solidFill>
                <a:latin typeface="Calibri"/>
                <a:ea typeface="Calibri"/>
                <a:cs typeface="Calibri"/>
                <a:sym typeface="Calibri"/>
              </a:rPr>
              <a:t>tra cứu phác đồ nhanh</a:t>
            </a:r>
            <a:endParaRPr b="0" i="0" sz="950" u="none" cap="none" strike="noStrike">
              <a:solidFill>
                <a:schemeClr val="dk1"/>
              </a:solidFill>
              <a:latin typeface="Calibri"/>
              <a:ea typeface="Calibri"/>
              <a:cs typeface="Calibri"/>
              <a:sym typeface="Calibri"/>
            </a:endParaRPr>
          </a:p>
        </p:txBody>
      </p:sp>
      <p:sp>
        <p:nvSpPr>
          <p:cNvPr id="28" name="Google Shape;28;p3"/>
          <p:cNvSpPr/>
          <p:nvPr/>
        </p:nvSpPr>
        <p:spPr>
          <a:xfrm>
            <a:off x="3383280" y="3493008"/>
            <a:ext cx="2743200" cy="1371600"/>
          </a:xfrm>
          <a:prstGeom prst="rect">
            <a:avLst/>
          </a:prstGeom>
          <a:solidFill>
            <a:srgbClr val="FFFFFF">
              <a:alpha val="10196"/>
            </a:srgbClr>
          </a:solidFill>
          <a:ln cap="flat" cmpd="sng" w="12700">
            <a:solidFill>
              <a:srgbClr val="FFFFFF">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3383280" y="3493008"/>
            <a:ext cx="2743200" cy="54864"/>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3520440" y="3602736"/>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~150</a:t>
            </a:r>
            <a:endParaRPr b="0" i="0" sz="3000" u="none" cap="none" strike="noStrike">
              <a:solidFill>
                <a:schemeClr val="dk1"/>
              </a:solidFill>
              <a:latin typeface="Calibri"/>
              <a:ea typeface="Calibri"/>
              <a:cs typeface="Calibri"/>
              <a:sym typeface="Calibri"/>
            </a:endParaRPr>
          </a:p>
        </p:txBody>
      </p:sp>
      <p:sp>
        <p:nvSpPr>
          <p:cNvPr id="31" name="Google Shape;31;p3"/>
          <p:cNvSpPr/>
          <p:nvPr/>
        </p:nvSpPr>
        <p:spPr>
          <a:xfrm>
            <a:off x="3520440" y="407822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200"/>
              <a:buFont typeface="Calibri"/>
              <a:buNone/>
            </a:pPr>
            <a:r>
              <a:rPr b="1" i="0" lang="en-US" sz="1200" u="none" cap="none" strike="noStrike">
                <a:solidFill>
                  <a:srgbClr val="A8D8EA"/>
                </a:solidFill>
                <a:latin typeface="Calibri"/>
                <a:ea typeface="Calibri"/>
                <a:cs typeface="Calibri"/>
                <a:sym typeface="Calibri"/>
              </a:rPr>
              <a:t>Điều dưỡng</a:t>
            </a:r>
            <a:endParaRPr b="0" i="0" sz="1200" u="none" cap="none" strike="noStrike">
              <a:solidFill>
                <a:schemeClr val="dk1"/>
              </a:solidFill>
              <a:latin typeface="Calibri"/>
              <a:ea typeface="Calibri"/>
              <a:cs typeface="Calibri"/>
              <a:sym typeface="Calibri"/>
            </a:endParaRPr>
          </a:p>
        </p:txBody>
      </p:sp>
      <p:sp>
        <p:nvSpPr>
          <p:cNvPr id="32" name="Google Shape;32;p3"/>
          <p:cNvSpPr/>
          <p:nvPr/>
        </p:nvSpPr>
        <p:spPr>
          <a:xfrm>
            <a:off x="3520440" y="4325112"/>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C8D9"/>
              </a:buClr>
              <a:buSzPts val="950"/>
              <a:buFont typeface="Calibri"/>
              <a:buNone/>
            </a:pPr>
            <a:r>
              <a:rPr b="0" i="0" lang="en-US" sz="950" u="none" cap="none" strike="noStrike">
                <a:solidFill>
                  <a:srgbClr val="7EC8D9"/>
                </a:solidFill>
                <a:latin typeface="Calibri"/>
                <a:ea typeface="Calibri"/>
                <a:cs typeface="Calibri"/>
                <a:sym typeface="Calibri"/>
              </a:rPr>
              <a:t>quy trình chăm sóc</a:t>
            </a:r>
            <a:endParaRPr b="0" i="0" sz="950" u="none" cap="none" strike="noStrike">
              <a:solidFill>
                <a:schemeClr val="dk1"/>
              </a:solidFill>
              <a:latin typeface="Calibri"/>
              <a:ea typeface="Calibri"/>
              <a:cs typeface="Calibri"/>
              <a:sym typeface="Calibri"/>
            </a:endParaRPr>
          </a:p>
        </p:txBody>
      </p:sp>
      <p:sp>
        <p:nvSpPr>
          <p:cNvPr id="33" name="Google Shape;33;p3"/>
          <p:cNvSpPr/>
          <p:nvPr/>
        </p:nvSpPr>
        <p:spPr>
          <a:xfrm>
            <a:off x="6263640" y="3493008"/>
            <a:ext cx="2743200" cy="1371600"/>
          </a:xfrm>
          <a:prstGeom prst="rect">
            <a:avLst/>
          </a:prstGeom>
          <a:solidFill>
            <a:srgbClr val="FFFFFF">
              <a:alpha val="10196"/>
            </a:srgbClr>
          </a:solidFill>
          <a:ln cap="flat" cmpd="sng" w="12700">
            <a:solidFill>
              <a:srgbClr val="FFFFFF">
                <a:alpha val="2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6263640" y="3493008"/>
            <a:ext cx="2743200" cy="54864"/>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6400800" y="3602736"/>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~70</a:t>
            </a:r>
            <a:endParaRPr b="0" i="0" sz="3000" u="none" cap="none" strike="noStrike">
              <a:solidFill>
                <a:schemeClr val="dk1"/>
              </a:solidFill>
              <a:latin typeface="Calibri"/>
              <a:ea typeface="Calibri"/>
              <a:cs typeface="Calibri"/>
              <a:sym typeface="Calibri"/>
            </a:endParaRPr>
          </a:p>
        </p:txBody>
      </p:sp>
      <p:sp>
        <p:nvSpPr>
          <p:cNvPr id="36" name="Google Shape;36;p3"/>
          <p:cNvSpPr/>
          <p:nvPr/>
        </p:nvSpPr>
        <p:spPr>
          <a:xfrm>
            <a:off x="6400800" y="407822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200"/>
              <a:buFont typeface="Calibri"/>
              <a:buNone/>
            </a:pPr>
            <a:r>
              <a:rPr b="1" i="0" lang="en-US" sz="1200" u="none" cap="none" strike="noStrike">
                <a:solidFill>
                  <a:srgbClr val="A8D8EA"/>
                </a:solidFill>
                <a:latin typeface="Calibri"/>
                <a:ea typeface="Calibri"/>
                <a:cs typeface="Calibri"/>
                <a:sym typeface="Calibri"/>
              </a:rPr>
              <a:t>Lễ tân</a:t>
            </a:r>
            <a:endParaRPr b="0" i="0" sz="1200" u="none" cap="none" strike="noStrike">
              <a:solidFill>
                <a:schemeClr val="dk1"/>
              </a:solidFill>
              <a:latin typeface="Calibri"/>
              <a:ea typeface="Calibri"/>
              <a:cs typeface="Calibri"/>
              <a:sym typeface="Calibri"/>
            </a:endParaRPr>
          </a:p>
        </p:txBody>
      </p:sp>
      <p:sp>
        <p:nvSpPr>
          <p:cNvPr id="37" name="Google Shape;37;p3"/>
          <p:cNvSpPr/>
          <p:nvPr/>
        </p:nvSpPr>
        <p:spPr>
          <a:xfrm>
            <a:off x="6400800" y="4325112"/>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C8D9"/>
              </a:buClr>
              <a:buSzPts val="950"/>
              <a:buFont typeface="Calibri"/>
              <a:buNone/>
            </a:pPr>
            <a:r>
              <a:rPr b="0" i="0" lang="en-US" sz="950" u="none" cap="none" strike="noStrike">
                <a:solidFill>
                  <a:srgbClr val="7EC8D9"/>
                </a:solidFill>
                <a:latin typeface="Calibri"/>
                <a:ea typeface="Calibri"/>
                <a:cs typeface="Calibri"/>
                <a:sym typeface="Calibri"/>
              </a:rPr>
              <a:t>FAQ &amp; hành chính</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9FC"/>
        </a:solidFill>
      </p:bgPr>
    </p:bg>
    <p:spTree>
      <p:nvGrpSpPr>
        <p:cNvPr id="42" name="Shape 42"/>
        <p:cNvGrpSpPr/>
        <p:nvPr/>
      </p:nvGrpSpPr>
      <p:grpSpPr>
        <a:xfrm>
          <a:off x="0" y="0"/>
          <a:ext cx="0" cy="0"/>
          <a:chOff x="0" y="0"/>
          <a:chExt cx="0" cy="0"/>
        </a:xfrm>
      </p:grpSpPr>
      <p:sp>
        <p:nvSpPr>
          <p:cNvPr id="43" name="Google Shape;43;p4"/>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02 / 07</a:t>
            </a:r>
            <a:endParaRPr b="0" i="0" sz="800" u="none" cap="none" strike="noStrike">
              <a:solidFill>
                <a:schemeClr val="dk1"/>
              </a:solidFill>
              <a:latin typeface="Calibri"/>
              <a:ea typeface="Calibri"/>
              <a:cs typeface="Calibri"/>
              <a:sym typeface="Calibri"/>
            </a:endParaRPr>
          </a:p>
        </p:txBody>
      </p:sp>
      <p:sp>
        <p:nvSpPr>
          <p:cNvPr id="44" name="Google Shape;44;p4"/>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2300"/>
              <a:buFont typeface="Trebuchet MS"/>
              <a:buNone/>
            </a:pPr>
            <a:r>
              <a:rPr b="1" i="0" lang="en-US" sz="2300" u="none" cap="none" strike="noStrike">
                <a:solidFill>
                  <a:srgbClr val="05445E"/>
                </a:solidFill>
                <a:latin typeface="Trebuchet MS"/>
                <a:ea typeface="Trebuchet MS"/>
                <a:cs typeface="Trebuchet MS"/>
                <a:sym typeface="Trebuchet MS"/>
              </a:rPr>
              <a:t>Enterprise Context &amp; Constraints</a:t>
            </a:r>
            <a:endParaRPr b="0" i="0" sz="2300" u="none" cap="none" strike="noStrike">
              <a:solidFill>
                <a:schemeClr val="dk1"/>
              </a:solidFill>
              <a:latin typeface="Calibri"/>
              <a:ea typeface="Calibri"/>
              <a:cs typeface="Calibri"/>
              <a:sym typeface="Calibri"/>
            </a:endParaRPr>
          </a:p>
        </p:txBody>
      </p:sp>
      <p:sp>
        <p:nvSpPr>
          <p:cNvPr id="45" name="Google Shape;45;p4"/>
          <p:cNvSpPr/>
          <p:nvPr/>
        </p:nvSpPr>
        <p:spPr>
          <a:xfrm>
            <a:off x="457200" y="822960"/>
            <a:ext cx="8229600" cy="420624"/>
          </a:xfrm>
          <a:prstGeom prst="rect">
            <a:avLst/>
          </a:prstGeom>
          <a:solidFill>
            <a:srgbClr val="D6EAF8"/>
          </a:solidFill>
          <a:ln cap="flat" cmpd="sng" w="12700">
            <a:solidFill>
              <a:srgbClr val="D6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94360" y="822960"/>
            <a:ext cx="7955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1050"/>
              <a:buFont typeface="Calibri"/>
              <a:buNone/>
            </a:pPr>
            <a:r>
              <a:rPr b="0" i="0" lang="en-US" sz="1050" u="none" cap="none" strike="noStrike">
                <a:solidFill>
                  <a:srgbClr val="05445E"/>
                </a:solidFill>
                <a:latin typeface="Calibri"/>
                <a:ea typeface="Calibri"/>
                <a:cs typeface="Calibri"/>
                <a:sym typeface="Calibri"/>
              </a:rPr>
              <a:t>Bệnh viện đa khoa 500 giường  ·  HIS legacy đang vận hành  ·  ~300 nhân viên sử dụng hệ thống hàng ngày</a:t>
            </a:r>
            <a:endParaRPr b="0" i="0" sz="1050" u="none" cap="none" strike="noStrike">
              <a:solidFill>
                <a:schemeClr val="dk1"/>
              </a:solidFill>
              <a:latin typeface="Calibri"/>
              <a:ea typeface="Calibri"/>
              <a:cs typeface="Calibri"/>
              <a:sym typeface="Calibri"/>
            </a:endParaRPr>
          </a:p>
        </p:txBody>
      </p:sp>
      <p:sp>
        <p:nvSpPr>
          <p:cNvPr id="47" name="Google Shape;47;p4"/>
          <p:cNvSpPr/>
          <p:nvPr/>
        </p:nvSpPr>
        <p:spPr>
          <a:xfrm>
            <a:off x="457200" y="1353312"/>
            <a:ext cx="2651760" cy="23774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457200" y="1353312"/>
            <a:ext cx="2651760" cy="54864"/>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594360" y="1508760"/>
            <a:ext cx="402336" cy="402336"/>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594360" y="15087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51" name="Google Shape;51;p4"/>
          <p:cNvSpPr/>
          <p:nvPr/>
        </p:nvSpPr>
        <p:spPr>
          <a:xfrm>
            <a:off x="594360" y="2011680"/>
            <a:ext cx="23957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Tuân thủ pháp lý</a:t>
            </a:r>
            <a:endParaRPr b="0" i="0" sz="1300" u="none" cap="none" strike="noStrike">
              <a:solidFill>
                <a:schemeClr val="dk1"/>
              </a:solidFill>
              <a:latin typeface="Calibri"/>
              <a:ea typeface="Calibri"/>
              <a:cs typeface="Calibri"/>
              <a:sym typeface="Calibri"/>
            </a:endParaRPr>
          </a:p>
        </p:txBody>
      </p:sp>
      <p:sp>
        <p:nvSpPr>
          <p:cNvPr id="52" name="Google Shape;52;p4"/>
          <p:cNvSpPr/>
          <p:nvPr/>
        </p:nvSpPr>
        <p:spPr>
          <a:xfrm>
            <a:off x="594360" y="2450592"/>
            <a:ext cx="2395728"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Dữ liệu bệnh án không được rời hạ tầng bệnh viện theo Luật Khám bệnh chữa bệnh 2023. Bắt buộc on-prem cho toàn bộ PHI.</a:t>
            </a:r>
            <a:endParaRPr b="0" i="0" sz="1000" u="none" cap="none" strike="noStrike">
              <a:solidFill>
                <a:schemeClr val="dk1"/>
              </a:solidFill>
              <a:latin typeface="Calibri"/>
              <a:ea typeface="Calibri"/>
              <a:cs typeface="Calibri"/>
              <a:sym typeface="Calibri"/>
            </a:endParaRPr>
          </a:p>
        </p:txBody>
      </p:sp>
      <p:sp>
        <p:nvSpPr>
          <p:cNvPr id="53" name="Google Shape;53;p4"/>
          <p:cNvSpPr/>
          <p:nvPr/>
        </p:nvSpPr>
        <p:spPr>
          <a:xfrm>
            <a:off x="3273552" y="1353312"/>
            <a:ext cx="2651760" cy="23774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273552" y="1353312"/>
            <a:ext cx="2651760" cy="54864"/>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3410712" y="1508760"/>
            <a:ext cx="402336" cy="402336"/>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3410712" y="15087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57" name="Google Shape;57;p4"/>
          <p:cNvSpPr/>
          <p:nvPr/>
        </p:nvSpPr>
        <p:spPr>
          <a:xfrm>
            <a:off x="3410712" y="2011680"/>
            <a:ext cx="23957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Tích hợp HIS Legacy</a:t>
            </a:r>
            <a:endParaRPr b="0" i="0" sz="1300" u="none" cap="none" strike="noStrike">
              <a:solidFill>
                <a:schemeClr val="dk1"/>
              </a:solidFill>
              <a:latin typeface="Calibri"/>
              <a:ea typeface="Calibri"/>
              <a:cs typeface="Calibri"/>
              <a:sym typeface="Calibri"/>
            </a:endParaRPr>
          </a:p>
        </p:txBody>
      </p:sp>
      <p:sp>
        <p:nvSpPr>
          <p:cNvPr id="58" name="Google Shape;58;p4"/>
          <p:cNvSpPr/>
          <p:nvPr/>
        </p:nvSpPr>
        <p:spPr>
          <a:xfrm>
            <a:off x="3410712" y="2450592"/>
            <a:ext cx="2395728"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Agent phải đọc được dữ liệu từ HIS hiện tại (HL7 standard). Không thể yêu cầu migration toàn bộ hệ thống.</a:t>
            </a:r>
            <a:endParaRPr b="0" i="0" sz="1000" u="none" cap="none" strike="noStrike">
              <a:solidFill>
                <a:schemeClr val="dk1"/>
              </a:solidFill>
              <a:latin typeface="Calibri"/>
              <a:ea typeface="Calibri"/>
              <a:cs typeface="Calibri"/>
              <a:sym typeface="Calibri"/>
            </a:endParaRPr>
          </a:p>
        </p:txBody>
      </p:sp>
      <p:sp>
        <p:nvSpPr>
          <p:cNvPr id="59" name="Google Shape;59;p4"/>
          <p:cNvSpPr/>
          <p:nvPr/>
        </p:nvSpPr>
        <p:spPr>
          <a:xfrm>
            <a:off x="6089904" y="1353312"/>
            <a:ext cx="2651760" cy="23774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089904" y="1353312"/>
            <a:ext cx="2651760" cy="54864"/>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227064" y="1508760"/>
            <a:ext cx="402336" cy="4023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227064" y="15087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63" name="Google Shape;63;p4"/>
          <p:cNvSpPr/>
          <p:nvPr/>
        </p:nvSpPr>
        <p:spPr>
          <a:xfrm>
            <a:off x="6227064" y="2011680"/>
            <a:ext cx="23957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Phân quyền nghiêm ngặt</a:t>
            </a:r>
            <a:endParaRPr b="0" i="0" sz="1300" u="none" cap="none" strike="noStrike">
              <a:solidFill>
                <a:schemeClr val="dk1"/>
              </a:solidFill>
              <a:latin typeface="Calibri"/>
              <a:ea typeface="Calibri"/>
              <a:cs typeface="Calibri"/>
              <a:sym typeface="Calibri"/>
            </a:endParaRPr>
          </a:p>
        </p:txBody>
      </p:sp>
      <p:sp>
        <p:nvSpPr>
          <p:cNvPr id="64" name="Google Shape;64;p4"/>
          <p:cNvSpPr/>
          <p:nvPr/>
        </p:nvSpPr>
        <p:spPr>
          <a:xfrm>
            <a:off x="6227064" y="2450592"/>
            <a:ext cx="2395728"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Bác sĩ chỉ thấy bệnh nhân của mình. Hệ thống phải enforce role-based access control theo từng role.</a:t>
            </a:r>
            <a:endParaRPr b="0" i="0" sz="1000" u="none" cap="none" strike="noStrike">
              <a:solidFill>
                <a:schemeClr val="dk1"/>
              </a:solidFill>
              <a:latin typeface="Calibri"/>
              <a:ea typeface="Calibri"/>
              <a:cs typeface="Calibri"/>
              <a:sym typeface="Calibri"/>
            </a:endParaRPr>
          </a:p>
        </p:txBody>
      </p:sp>
      <p:sp>
        <p:nvSpPr>
          <p:cNvPr id="65" name="Google Shape;65;p4"/>
          <p:cNvSpPr/>
          <p:nvPr/>
        </p:nvSpPr>
        <p:spPr>
          <a:xfrm>
            <a:off x="457200" y="3749040"/>
            <a:ext cx="8229600" cy="1298448"/>
          </a:xfrm>
          <a:prstGeom prst="rect">
            <a:avLst/>
          </a:prstGeom>
          <a:solidFill>
            <a:srgbClr val="E0F7F4"/>
          </a:solidFill>
          <a:ln cap="flat" cmpd="sng" w="12700">
            <a:solidFill>
              <a:srgbClr val="00A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594360" y="3822192"/>
            <a:ext cx="1463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950"/>
              <a:buFont typeface="Calibri"/>
              <a:buNone/>
            </a:pPr>
            <a:r>
              <a:rPr b="1" i="0" lang="en-US" sz="950" u="none" cap="none" strike="noStrike">
                <a:solidFill>
                  <a:srgbClr val="028090"/>
                </a:solidFill>
                <a:latin typeface="Calibri"/>
                <a:ea typeface="Calibri"/>
                <a:cs typeface="Calibri"/>
                <a:sym typeface="Calibri"/>
              </a:rPr>
              <a:t>Dữ liệu hệ thống:</a:t>
            </a:r>
            <a:endParaRPr b="0" i="0" sz="950" u="none" cap="none" strike="noStrike">
              <a:solidFill>
                <a:schemeClr val="dk1"/>
              </a:solidFill>
              <a:latin typeface="Calibri"/>
              <a:ea typeface="Calibri"/>
              <a:cs typeface="Calibri"/>
              <a:sym typeface="Calibri"/>
            </a:endParaRPr>
          </a:p>
        </p:txBody>
      </p:sp>
      <p:sp>
        <p:nvSpPr>
          <p:cNvPr id="67" name="Google Shape;67;p4"/>
          <p:cNvSpPr/>
          <p:nvPr/>
        </p:nvSpPr>
        <p:spPr>
          <a:xfrm>
            <a:off x="594360" y="4087368"/>
            <a:ext cx="2560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000" u="none" cap="none" strike="noStrike">
                <a:solidFill>
                  <a:srgbClr val="1E293B"/>
                </a:solidFill>
                <a:latin typeface="Calibri"/>
                <a:ea typeface="Calibri"/>
                <a:cs typeface="Calibri"/>
                <a:sym typeface="Calibri"/>
              </a:rPr>
              <a:t>PHI (bệnh án, xét nghiệm)</a:t>
            </a:r>
            <a:endParaRPr b="0" i="0" sz="1000" u="none" cap="none" strike="noStrike">
              <a:solidFill>
                <a:schemeClr val="dk1"/>
              </a:solidFill>
              <a:latin typeface="Calibri"/>
              <a:ea typeface="Calibri"/>
              <a:cs typeface="Calibri"/>
              <a:sym typeface="Calibri"/>
            </a:endParaRPr>
          </a:p>
        </p:txBody>
      </p:sp>
      <p:sp>
        <p:nvSpPr>
          <p:cNvPr id="68" name="Google Shape;68;p4"/>
          <p:cNvSpPr/>
          <p:nvPr/>
        </p:nvSpPr>
        <p:spPr>
          <a:xfrm>
            <a:off x="594360" y="4306824"/>
            <a:ext cx="2560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950"/>
              <a:buFont typeface="Calibri"/>
              <a:buNone/>
            </a:pPr>
            <a:r>
              <a:rPr b="0" i="1" lang="en-US" sz="950" u="none" cap="none" strike="noStrike">
                <a:solidFill>
                  <a:srgbClr val="DC2626"/>
                </a:solidFill>
                <a:latin typeface="Calibri"/>
                <a:ea typeface="Calibri"/>
                <a:cs typeface="Calibri"/>
                <a:sym typeface="Calibri"/>
              </a:rPr>
              <a:t>Cực kỳ nhạy cảm</a:t>
            </a:r>
            <a:endParaRPr b="0" i="0" sz="950" u="none" cap="none" strike="noStrike">
              <a:solidFill>
                <a:schemeClr val="dk1"/>
              </a:solidFill>
              <a:latin typeface="Calibri"/>
              <a:ea typeface="Calibri"/>
              <a:cs typeface="Calibri"/>
              <a:sym typeface="Calibri"/>
            </a:endParaRPr>
          </a:p>
        </p:txBody>
      </p:sp>
      <p:sp>
        <p:nvSpPr>
          <p:cNvPr id="69" name="Google Shape;69;p4"/>
          <p:cNvSpPr/>
          <p:nvPr/>
        </p:nvSpPr>
        <p:spPr>
          <a:xfrm>
            <a:off x="3337560" y="4087368"/>
            <a:ext cx="2560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000" u="none" cap="none" strike="noStrike">
                <a:solidFill>
                  <a:srgbClr val="1E293B"/>
                </a:solidFill>
                <a:latin typeface="Calibri"/>
                <a:ea typeface="Calibri"/>
                <a:cs typeface="Calibri"/>
                <a:sym typeface="Calibri"/>
              </a:rPr>
              <a:t>SOP / Quy trình nội bộ</a:t>
            </a:r>
            <a:endParaRPr b="0" i="0" sz="1000" u="none" cap="none" strike="noStrike">
              <a:solidFill>
                <a:schemeClr val="dk1"/>
              </a:solidFill>
              <a:latin typeface="Calibri"/>
              <a:ea typeface="Calibri"/>
              <a:cs typeface="Calibri"/>
              <a:sym typeface="Calibri"/>
            </a:endParaRPr>
          </a:p>
        </p:txBody>
      </p:sp>
      <p:sp>
        <p:nvSpPr>
          <p:cNvPr id="70" name="Google Shape;70;p4"/>
          <p:cNvSpPr/>
          <p:nvPr/>
        </p:nvSpPr>
        <p:spPr>
          <a:xfrm>
            <a:off x="3337560" y="4306824"/>
            <a:ext cx="2560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950"/>
              <a:buFont typeface="Calibri"/>
              <a:buNone/>
            </a:pPr>
            <a:r>
              <a:rPr b="0" i="1" lang="en-US" sz="950" u="none" cap="none" strike="noStrike">
                <a:solidFill>
                  <a:srgbClr val="D97706"/>
                </a:solidFill>
                <a:latin typeface="Calibri"/>
                <a:ea typeface="Calibri"/>
                <a:cs typeface="Calibri"/>
                <a:sym typeface="Calibri"/>
              </a:rPr>
              <a:t>Nhạy cảm vừa</a:t>
            </a:r>
            <a:endParaRPr b="0" i="0" sz="950" u="none" cap="none" strike="noStrike">
              <a:solidFill>
                <a:schemeClr val="dk1"/>
              </a:solidFill>
              <a:latin typeface="Calibri"/>
              <a:ea typeface="Calibri"/>
              <a:cs typeface="Calibri"/>
              <a:sym typeface="Calibri"/>
            </a:endParaRPr>
          </a:p>
        </p:txBody>
      </p:sp>
      <p:sp>
        <p:nvSpPr>
          <p:cNvPr id="71" name="Google Shape;71;p4"/>
          <p:cNvSpPr/>
          <p:nvPr/>
        </p:nvSpPr>
        <p:spPr>
          <a:xfrm>
            <a:off x="6080760" y="4087368"/>
            <a:ext cx="2560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000" u="none" cap="none" strike="noStrike">
                <a:solidFill>
                  <a:srgbClr val="1E293B"/>
                </a:solidFill>
                <a:latin typeface="Calibri"/>
                <a:ea typeface="Calibri"/>
                <a:cs typeface="Calibri"/>
                <a:sym typeface="Calibri"/>
              </a:rPr>
              <a:t>FAQ hành chính</a:t>
            </a:r>
            <a:endParaRPr b="0" i="0" sz="1000" u="none" cap="none" strike="noStrike">
              <a:solidFill>
                <a:schemeClr val="dk1"/>
              </a:solidFill>
              <a:latin typeface="Calibri"/>
              <a:ea typeface="Calibri"/>
              <a:cs typeface="Calibri"/>
              <a:sym typeface="Calibri"/>
            </a:endParaRPr>
          </a:p>
        </p:txBody>
      </p:sp>
      <p:sp>
        <p:nvSpPr>
          <p:cNvPr id="72" name="Google Shape;72;p4"/>
          <p:cNvSpPr/>
          <p:nvPr/>
        </p:nvSpPr>
        <p:spPr>
          <a:xfrm>
            <a:off x="6080760" y="4306824"/>
            <a:ext cx="2560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950"/>
              <a:buFont typeface="Calibri"/>
              <a:buNone/>
            </a:pPr>
            <a:r>
              <a:rPr b="0" i="1" lang="en-US" sz="950" u="none" cap="none" strike="noStrike">
                <a:solidFill>
                  <a:srgbClr val="059669"/>
                </a:solidFill>
                <a:latin typeface="Calibri"/>
                <a:ea typeface="Calibri"/>
                <a:cs typeface="Calibri"/>
                <a:sym typeface="Calibri"/>
              </a:rPr>
              <a:t>Công khai nội bộ</a:t>
            </a:r>
            <a:endParaRPr b="0" i="0" sz="950" u="none" cap="none" strike="noStrike">
              <a:solidFill>
                <a:schemeClr val="dk1"/>
              </a:solidFill>
              <a:latin typeface="Calibri"/>
              <a:ea typeface="Calibri"/>
              <a:cs typeface="Calibri"/>
              <a:sym typeface="Calibri"/>
            </a:endParaRPr>
          </a:p>
        </p:txBody>
      </p:sp>
      <p:sp>
        <p:nvSpPr>
          <p:cNvPr id="73" name="Google Shape;73;p4"/>
          <p:cNvSpPr/>
          <p:nvPr/>
        </p:nvSpPr>
        <p:spPr>
          <a:xfrm>
            <a:off x="594360" y="4553712"/>
            <a:ext cx="7955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850"/>
              <a:buFont typeface="Calibri"/>
              <a:buNone/>
            </a:pPr>
            <a:r>
              <a:rPr b="1" i="0" lang="en-US" sz="850" u="none" cap="none" strike="noStrike">
                <a:solidFill>
                  <a:srgbClr val="028090"/>
                </a:solidFill>
                <a:latin typeface="Calibri"/>
                <a:ea typeface="Calibri"/>
                <a:cs typeface="Calibri"/>
                <a:sym typeface="Calibri"/>
              </a:rPr>
              <a:t>Bảo mật: </a:t>
            </a:r>
            <a:r>
              <a:rPr b="0" i="0" lang="en-US" sz="850" u="none" cap="none" strike="noStrike">
                <a:solidFill>
                  <a:srgbClr val="1E293B"/>
                </a:solidFill>
                <a:latin typeface="Calibri"/>
                <a:ea typeface="Calibri"/>
                <a:cs typeface="Calibri"/>
                <a:sym typeface="Calibri"/>
              </a:rPr>
              <a:t>AES-256 at rest · TLS 1.3 in transit · BAA bắt buộc với mọi cloud provider xử lý PHI  </a:t>
            </a:r>
            <a:r>
              <a:rPr b="0" i="0" lang="en-US" sz="850" u="none" cap="none" strike="noStrike">
                <a:solidFill>
                  <a:srgbClr val="64748B"/>
                </a:solidFill>
                <a:latin typeface="Calibri"/>
                <a:ea typeface="Calibri"/>
                <a:cs typeface="Calibri"/>
                <a:sym typeface="Calibri"/>
              </a:rPr>
              <a:t>·  Audit log immutable (hash chain) · Retention 6 năm · Namespace isolation trong Vector DB</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9FC"/>
        </a:solidFill>
      </p:bgPr>
    </p:bg>
    <p:spTree>
      <p:nvGrpSpPr>
        <p:cNvPr id="78" name="Shape 78"/>
        <p:cNvGrpSpPr/>
        <p:nvPr/>
      </p:nvGrpSpPr>
      <p:grpSpPr>
        <a:xfrm>
          <a:off x="0" y="0"/>
          <a:ext cx="0" cy="0"/>
          <a:chOff x="0" y="0"/>
          <a:chExt cx="0" cy="0"/>
        </a:xfrm>
      </p:grpSpPr>
      <p:sp>
        <p:nvSpPr>
          <p:cNvPr id="79" name="Google Shape;79;p5"/>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03 / 07</a:t>
            </a:r>
            <a:endParaRPr b="0" i="0" sz="800" u="none" cap="none" strike="noStrike">
              <a:solidFill>
                <a:schemeClr val="dk1"/>
              </a:solidFill>
              <a:latin typeface="Calibri"/>
              <a:ea typeface="Calibri"/>
              <a:cs typeface="Calibri"/>
              <a:sym typeface="Calibri"/>
            </a:endParaRPr>
          </a:p>
        </p:txBody>
      </p:sp>
      <p:sp>
        <p:nvSpPr>
          <p:cNvPr id="80" name="Google Shape;80;p5"/>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2300"/>
              <a:buFont typeface="Trebuchet MS"/>
              <a:buNone/>
            </a:pPr>
            <a:r>
              <a:rPr b="1" i="0" lang="en-US" sz="2300" u="none" cap="none" strike="noStrike">
                <a:solidFill>
                  <a:srgbClr val="05445E"/>
                </a:solidFill>
                <a:latin typeface="Trebuchet MS"/>
                <a:ea typeface="Trebuchet MS"/>
                <a:cs typeface="Trebuchet MS"/>
                <a:sym typeface="Trebuchet MS"/>
              </a:rPr>
              <a:t>Deployment Architecture — Hybrid Model</a:t>
            </a:r>
            <a:endParaRPr b="0" i="0" sz="2300" u="none" cap="none" strike="noStrike">
              <a:solidFill>
                <a:schemeClr val="dk1"/>
              </a:solidFill>
              <a:latin typeface="Calibri"/>
              <a:ea typeface="Calibri"/>
              <a:cs typeface="Calibri"/>
              <a:sym typeface="Calibri"/>
            </a:endParaRPr>
          </a:p>
        </p:txBody>
      </p:sp>
      <p:sp>
        <p:nvSpPr>
          <p:cNvPr id="81" name="Google Shape;81;p5"/>
          <p:cNvSpPr/>
          <p:nvPr/>
        </p:nvSpPr>
        <p:spPr>
          <a:xfrm>
            <a:off x="365760" y="841248"/>
            <a:ext cx="5120640" cy="3657600"/>
          </a:xfrm>
          <a:prstGeom prst="rect">
            <a:avLst/>
          </a:prstGeom>
          <a:solidFill>
            <a:srgbClr val="EDF5FF"/>
          </a:solidFill>
          <a:ln cap="flat" cmpd="sng" w="12700">
            <a:solidFill>
              <a:srgbClr val="028090">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502920" y="932688"/>
            <a:ext cx="27432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800"/>
              <a:buFont typeface="Calibri"/>
              <a:buNone/>
            </a:pPr>
            <a:r>
              <a:rPr b="1" i="0" lang="en-US" sz="800" u="none" cap="none" strike="noStrike">
                <a:solidFill>
                  <a:srgbClr val="028090"/>
                </a:solidFill>
                <a:latin typeface="Calibri"/>
                <a:ea typeface="Calibri"/>
                <a:cs typeface="Calibri"/>
                <a:sym typeface="Calibri"/>
              </a:rPr>
              <a:t>BỆNH VIỆN — ON-PREM</a:t>
            </a:r>
            <a:endParaRPr b="0" i="0" sz="800" u="none" cap="none" strike="noStrike">
              <a:solidFill>
                <a:schemeClr val="dk1"/>
              </a:solidFill>
              <a:latin typeface="Calibri"/>
              <a:ea typeface="Calibri"/>
              <a:cs typeface="Calibri"/>
              <a:sym typeface="Calibri"/>
            </a:endParaRPr>
          </a:p>
        </p:txBody>
      </p:sp>
      <p:sp>
        <p:nvSpPr>
          <p:cNvPr id="83" name="Google Shape;83;p5"/>
          <p:cNvSpPr/>
          <p:nvPr/>
        </p:nvSpPr>
        <p:spPr>
          <a:xfrm>
            <a:off x="594360" y="1298448"/>
            <a:ext cx="1600200" cy="457200"/>
          </a:xfrm>
          <a:prstGeom prst="rect">
            <a:avLst/>
          </a:prstGeom>
          <a:solidFill>
            <a:srgbClr val="05445E"/>
          </a:solidFill>
          <a:ln cap="flat" cmpd="sng" w="12700">
            <a:solidFill>
              <a:srgbClr val="0544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594360" y="1298448"/>
            <a:ext cx="1600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HIS / EMR</a:t>
            </a:r>
            <a:endParaRPr b="0" i="0" sz="1000" u="none" cap="none" strike="noStrike">
              <a:solidFill>
                <a:schemeClr val="dk1"/>
              </a:solidFill>
              <a:latin typeface="Calibri"/>
              <a:ea typeface="Calibri"/>
              <a:cs typeface="Calibri"/>
              <a:sym typeface="Calibri"/>
            </a:endParaRPr>
          </a:p>
        </p:txBody>
      </p:sp>
      <p:cxnSp>
        <p:nvCxnSpPr>
          <p:cNvPr id="85" name="Google Shape;85;p5"/>
          <p:cNvCxnSpPr/>
          <p:nvPr/>
        </p:nvCxnSpPr>
        <p:spPr>
          <a:xfrm>
            <a:off x="2194560" y="1527048"/>
            <a:ext cx="228600" cy="0"/>
          </a:xfrm>
          <a:prstGeom prst="straightConnector1">
            <a:avLst/>
          </a:prstGeom>
          <a:noFill/>
          <a:ln cap="flat" cmpd="sng" w="25400">
            <a:solidFill>
              <a:srgbClr val="00A896"/>
            </a:solidFill>
            <a:prstDash val="solid"/>
            <a:round/>
            <a:headEnd len="sm" w="sm" type="none"/>
            <a:tailEnd len="sm" w="sm" type="none"/>
          </a:ln>
        </p:spPr>
      </p:cxnSp>
      <p:sp>
        <p:nvSpPr>
          <p:cNvPr id="86" name="Google Shape;86;p5"/>
          <p:cNvSpPr/>
          <p:nvPr/>
        </p:nvSpPr>
        <p:spPr>
          <a:xfrm>
            <a:off x="2423160" y="1298448"/>
            <a:ext cx="283464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2423160" y="1298448"/>
            <a:ext cx="2834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Mirth Connect / HL7 → FHIR</a:t>
            </a:r>
            <a:endParaRPr b="0" i="0" sz="1000" u="none" cap="none" strike="noStrike">
              <a:solidFill>
                <a:schemeClr val="dk1"/>
              </a:solidFill>
              <a:latin typeface="Calibri"/>
              <a:ea typeface="Calibri"/>
              <a:cs typeface="Calibri"/>
              <a:sym typeface="Calibri"/>
            </a:endParaRPr>
          </a:p>
        </p:txBody>
      </p:sp>
      <p:sp>
        <p:nvSpPr>
          <p:cNvPr id="88" name="Google Shape;88;p5"/>
          <p:cNvSpPr/>
          <p:nvPr/>
        </p:nvSpPr>
        <p:spPr>
          <a:xfrm>
            <a:off x="594360" y="1792224"/>
            <a:ext cx="4663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750"/>
              <a:buFont typeface="Calibri"/>
              <a:buNone/>
            </a:pPr>
            <a:r>
              <a:rPr b="0" i="1" lang="en-US" sz="750" u="none" cap="none" strike="noStrike">
                <a:solidFill>
                  <a:srgbClr val="028090"/>
                </a:solidFill>
                <a:latin typeface="Calibri"/>
                <a:ea typeface="Calibri"/>
                <a:cs typeface="Calibri"/>
                <a:sym typeface="Calibri"/>
              </a:rPr>
              <a:t>Kafka queue — buffer &amp; replay khi EMR offline</a:t>
            </a:r>
            <a:endParaRPr b="0" i="0" sz="750" u="none" cap="none" strike="noStrike">
              <a:solidFill>
                <a:schemeClr val="dk1"/>
              </a:solidFill>
              <a:latin typeface="Calibri"/>
              <a:ea typeface="Calibri"/>
              <a:cs typeface="Calibri"/>
              <a:sym typeface="Calibri"/>
            </a:endParaRPr>
          </a:p>
        </p:txBody>
      </p:sp>
      <p:cxnSp>
        <p:nvCxnSpPr>
          <p:cNvPr id="89" name="Google Shape;89;p5"/>
          <p:cNvCxnSpPr/>
          <p:nvPr/>
        </p:nvCxnSpPr>
        <p:spPr>
          <a:xfrm>
            <a:off x="1394460" y="2011680"/>
            <a:ext cx="0" cy="256032"/>
          </a:xfrm>
          <a:prstGeom prst="straightConnector1">
            <a:avLst/>
          </a:prstGeom>
          <a:noFill/>
          <a:ln cap="flat" cmpd="sng" w="25400">
            <a:solidFill>
              <a:srgbClr val="00A896"/>
            </a:solidFill>
            <a:prstDash val="solid"/>
            <a:round/>
            <a:headEnd len="sm" w="sm" type="none"/>
            <a:tailEnd len="sm" w="sm" type="none"/>
          </a:ln>
        </p:spPr>
      </p:cxnSp>
      <p:cxnSp>
        <p:nvCxnSpPr>
          <p:cNvPr id="90" name="Google Shape;90;p5"/>
          <p:cNvCxnSpPr/>
          <p:nvPr/>
        </p:nvCxnSpPr>
        <p:spPr>
          <a:xfrm>
            <a:off x="3840480" y="2011680"/>
            <a:ext cx="0" cy="256032"/>
          </a:xfrm>
          <a:prstGeom prst="straightConnector1">
            <a:avLst/>
          </a:prstGeom>
          <a:noFill/>
          <a:ln cap="flat" cmpd="sng" w="25400">
            <a:solidFill>
              <a:srgbClr val="00A896"/>
            </a:solidFill>
            <a:prstDash val="solid"/>
            <a:round/>
            <a:headEnd len="sm" w="sm" type="none"/>
            <a:tailEnd len="sm" w="sm" type="none"/>
          </a:ln>
        </p:spPr>
      </p:cxnSp>
      <p:sp>
        <p:nvSpPr>
          <p:cNvPr id="91" name="Google Shape;91;p5"/>
          <p:cNvSpPr/>
          <p:nvPr/>
        </p:nvSpPr>
        <p:spPr>
          <a:xfrm>
            <a:off x="594360" y="2267712"/>
            <a:ext cx="1600200" cy="47548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594360" y="2267712"/>
            <a:ext cx="160020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Vector DB</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(namespace isolation)</a:t>
            </a:r>
            <a:endParaRPr b="0" i="0" sz="850" u="none" cap="none" strike="noStrike">
              <a:solidFill>
                <a:schemeClr val="dk1"/>
              </a:solidFill>
              <a:latin typeface="Calibri"/>
              <a:ea typeface="Calibri"/>
              <a:cs typeface="Calibri"/>
              <a:sym typeface="Calibri"/>
            </a:endParaRPr>
          </a:p>
        </p:txBody>
      </p:sp>
      <p:cxnSp>
        <p:nvCxnSpPr>
          <p:cNvPr id="93" name="Google Shape;93;p5"/>
          <p:cNvCxnSpPr/>
          <p:nvPr/>
        </p:nvCxnSpPr>
        <p:spPr>
          <a:xfrm>
            <a:off x="2194560" y="2505456"/>
            <a:ext cx="228600" cy="0"/>
          </a:xfrm>
          <a:prstGeom prst="straightConnector1">
            <a:avLst/>
          </a:prstGeom>
          <a:noFill/>
          <a:ln cap="flat" cmpd="sng" w="25400">
            <a:solidFill>
              <a:srgbClr val="00A896"/>
            </a:solidFill>
            <a:prstDash val="solid"/>
            <a:round/>
            <a:headEnd len="sm" w="sm" type="none"/>
            <a:tailEnd len="sm" w="sm" type="none"/>
          </a:ln>
        </p:spPr>
      </p:cxnSp>
      <p:sp>
        <p:nvSpPr>
          <p:cNvPr id="94" name="Google Shape;94;p5"/>
          <p:cNvSpPr/>
          <p:nvPr/>
        </p:nvSpPr>
        <p:spPr>
          <a:xfrm>
            <a:off x="2423160" y="2267712"/>
            <a:ext cx="2834640" cy="475488"/>
          </a:xfrm>
          <a:prstGeom prst="rect">
            <a:avLst/>
          </a:prstGeom>
          <a:solidFill>
            <a:srgbClr val="05445E"/>
          </a:solidFill>
          <a:ln cap="flat" cmpd="sng" w="12700">
            <a:solidFill>
              <a:srgbClr val="0544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2423160" y="2267712"/>
            <a:ext cx="2834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RAG Engine</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(hybrid dense+BM25 · cross-encoder re-rank)</a:t>
            </a:r>
            <a:endParaRPr b="0" i="0" sz="850" u="none" cap="none" strike="noStrike">
              <a:solidFill>
                <a:schemeClr val="dk1"/>
              </a:solidFill>
              <a:latin typeface="Calibri"/>
              <a:ea typeface="Calibri"/>
              <a:cs typeface="Calibri"/>
              <a:sym typeface="Calibri"/>
            </a:endParaRPr>
          </a:p>
        </p:txBody>
      </p:sp>
      <p:sp>
        <p:nvSpPr>
          <p:cNvPr id="96" name="Google Shape;96;p5"/>
          <p:cNvSpPr/>
          <p:nvPr/>
        </p:nvSpPr>
        <p:spPr>
          <a:xfrm>
            <a:off x="594360" y="2944368"/>
            <a:ext cx="1600200" cy="475488"/>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594360" y="2944368"/>
            <a:ext cx="160020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Audit Log</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(immutable · 6yr)</a:t>
            </a:r>
            <a:endParaRPr b="0" i="0" sz="850" u="none" cap="none" strike="noStrike">
              <a:solidFill>
                <a:schemeClr val="dk1"/>
              </a:solidFill>
              <a:latin typeface="Calibri"/>
              <a:ea typeface="Calibri"/>
              <a:cs typeface="Calibri"/>
              <a:sym typeface="Calibri"/>
            </a:endParaRPr>
          </a:p>
        </p:txBody>
      </p:sp>
      <p:sp>
        <p:nvSpPr>
          <p:cNvPr id="98" name="Google Shape;98;p5"/>
          <p:cNvSpPr/>
          <p:nvPr/>
        </p:nvSpPr>
        <p:spPr>
          <a:xfrm>
            <a:off x="2423160" y="2944368"/>
            <a:ext cx="2834640" cy="475488"/>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2423160" y="2944368"/>
            <a:ext cx="2834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RBAC + ABAC (role · ward · department · ca trực)</a:t>
            </a:r>
            <a:endParaRPr b="0" i="0" sz="850" u="none" cap="none" strike="noStrike">
              <a:solidFill>
                <a:schemeClr val="dk1"/>
              </a:solidFill>
              <a:latin typeface="Calibri"/>
              <a:ea typeface="Calibri"/>
              <a:cs typeface="Calibri"/>
              <a:sym typeface="Calibri"/>
            </a:endParaRPr>
          </a:p>
        </p:txBody>
      </p:sp>
      <p:cxnSp>
        <p:nvCxnSpPr>
          <p:cNvPr id="100" name="Google Shape;100;p5"/>
          <p:cNvCxnSpPr/>
          <p:nvPr/>
        </p:nvCxnSpPr>
        <p:spPr>
          <a:xfrm flipH="1" rot="10800000">
            <a:off x="5531150" y="1998800"/>
            <a:ext cx="647700" cy="12300"/>
          </a:xfrm>
          <a:prstGeom prst="straightConnector1">
            <a:avLst/>
          </a:prstGeom>
          <a:noFill/>
          <a:ln cap="flat" cmpd="sng" w="25400">
            <a:solidFill>
              <a:srgbClr val="D97706"/>
            </a:solidFill>
            <a:prstDash val="solid"/>
            <a:round/>
            <a:headEnd len="sm" w="sm" type="none"/>
            <a:tailEnd len="sm" w="sm" type="none"/>
          </a:ln>
        </p:spPr>
      </p:cxnSp>
      <p:sp>
        <p:nvSpPr>
          <p:cNvPr id="101" name="Google Shape;101;p5"/>
          <p:cNvSpPr/>
          <p:nvPr/>
        </p:nvSpPr>
        <p:spPr>
          <a:xfrm>
            <a:off x="5503372" y="1561867"/>
            <a:ext cx="658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700"/>
              <a:buFont typeface="Calibri"/>
              <a:buNone/>
            </a:pPr>
            <a:r>
              <a:rPr b="0" i="1" lang="en-US" sz="700" u="none" cap="none" strike="noStrike">
                <a:solidFill>
                  <a:srgbClr val="D97706"/>
                </a:solidFill>
                <a:latin typeface="Calibri"/>
                <a:ea typeface="Calibri"/>
                <a:cs typeface="Calibri"/>
                <a:sym typeface="Calibri"/>
              </a:rPr>
              <a:t>anonymized</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700"/>
              <a:buFont typeface="Calibri"/>
              <a:buNone/>
            </a:pPr>
            <a:r>
              <a:rPr b="0" i="1" lang="en-US" sz="700" u="none" cap="none" strike="noStrike">
                <a:solidFill>
                  <a:srgbClr val="D97706"/>
                </a:solidFill>
                <a:latin typeface="Calibri"/>
                <a:ea typeface="Calibri"/>
                <a:cs typeface="Calibri"/>
                <a:sym typeface="Calibri"/>
              </a:rPr>
              <a:t>query only</a:t>
            </a:r>
            <a:endParaRPr b="0" i="0" sz="700" u="none" cap="none" strike="noStrike">
              <a:solidFill>
                <a:schemeClr val="dk1"/>
              </a:solidFill>
              <a:latin typeface="Calibri"/>
              <a:ea typeface="Calibri"/>
              <a:cs typeface="Calibri"/>
              <a:sym typeface="Calibri"/>
            </a:endParaRPr>
          </a:p>
        </p:txBody>
      </p:sp>
      <p:sp>
        <p:nvSpPr>
          <p:cNvPr id="102" name="Google Shape;102;p5"/>
          <p:cNvSpPr/>
          <p:nvPr/>
        </p:nvSpPr>
        <p:spPr>
          <a:xfrm>
            <a:off x="6178855" y="1358663"/>
            <a:ext cx="2834700" cy="1170300"/>
          </a:xfrm>
          <a:prstGeom prst="rect">
            <a:avLst/>
          </a:prstGeom>
          <a:solidFill>
            <a:srgbClr val="FFFBEB"/>
          </a:solidFill>
          <a:ln cap="flat" cmpd="sng" w="12700">
            <a:solidFill>
              <a:srgbClr val="D97706">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6297727" y="1431815"/>
            <a:ext cx="26517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750"/>
              <a:buFont typeface="Calibri"/>
              <a:buNone/>
            </a:pPr>
            <a:r>
              <a:rPr b="1" i="0" lang="en-US" sz="750" u="none" cap="none" strike="noStrike">
                <a:solidFill>
                  <a:srgbClr val="D97706"/>
                </a:solidFill>
                <a:latin typeface="Calibri"/>
                <a:ea typeface="Calibri"/>
                <a:cs typeface="Calibri"/>
                <a:sym typeface="Calibri"/>
              </a:rPr>
              <a:t>CLOUD (Azure / AWS)</a:t>
            </a:r>
            <a:endParaRPr b="0" i="0" sz="750" u="none" cap="none" strike="noStrike">
              <a:solidFill>
                <a:schemeClr val="dk1"/>
              </a:solidFill>
              <a:latin typeface="Calibri"/>
              <a:ea typeface="Calibri"/>
              <a:cs typeface="Calibri"/>
              <a:sym typeface="Calibri"/>
            </a:endParaRPr>
          </a:p>
        </p:txBody>
      </p:sp>
      <p:sp>
        <p:nvSpPr>
          <p:cNvPr id="104" name="Google Shape;104;p5"/>
          <p:cNvSpPr/>
          <p:nvPr/>
        </p:nvSpPr>
        <p:spPr>
          <a:xfrm>
            <a:off x="6361735" y="1724423"/>
            <a:ext cx="2487300" cy="4572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6361735" y="1724423"/>
            <a:ext cx="24873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Claude / Azure OpenAI</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(tokenized prompt · private endpoint)</a:t>
            </a:r>
            <a:endParaRPr b="0" i="0" sz="850" u="none" cap="none" strike="noStrike">
              <a:solidFill>
                <a:schemeClr val="dk1"/>
              </a:solidFill>
              <a:latin typeface="Calibri"/>
              <a:ea typeface="Calibri"/>
              <a:cs typeface="Calibri"/>
              <a:sym typeface="Calibri"/>
            </a:endParaRPr>
          </a:p>
        </p:txBody>
      </p:sp>
      <p:cxnSp>
        <p:nvCxnSpPr>
          <p:cNvPr id="106" name="Google Shape;106;p5"/>
          <p:cNvCxnSpPr/>
          <p:nvPr/>
        </p:nvCxnSpPr>
        <p:spPr>
          <a:xfrm>
            <a:off x="7596175" y="2529095"/>
            <a:ext cx="0" cy="384000"/>
          </a:xfrm>
          <a:prstGeom prst="straightConnector1">
            <a:avLst/>
          </a:prstGeom>
          <a:noFill/>
          <a:ln cap="flat" cmpd="sng" w="25400">
            <a:solidFill>
              <a:srgbClr val="059669"/>
            </a:solidFill>
            <a:prstDash val="solid"/>
            <a:round/>
            <a:headEnd len="sm" w="sm" type="none"/>
            <a:tailEnd len="sm" w="sm" type="none"/>
          </a:ln>
        </p:spPr>
      </p:cxnSp>
      <p:sp>
        <p:nvSpPr>
          <p:cNvPr id="107" name="Google Shape;107;p5"/>
          <p:cNvSpPr/>
          <p:nvPr/>
        </p:nvSpPr>
        <p:spPr>
          <a:xfrm>
            <a:off x="7641895" y="2565671"/>
            <a:ext cx="731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700"/>
              <a:buFont typeface="Calibri"/>
              <a:buNone/>
            </a:pPr>
            <a:r>
              <a:rPr b="0" i="1" lang="en-US" sz="700" u="none" cap="none" strike="noStrike">
                <a:solidFill>
                  <a:srgbClr val="059669"/>
                </a:solidFill>
                <a:latin typeface="Calibri"/>
                <a:ea typeface="Calibri"/>
                <a:cs typeface="Calibri"/>
                <a:sym typeface="Calibri"/>
              </a:rPr>
              <a:t>response</a:t>
            </a:r>
            <a:endParaRPr b="0" i="0" sz="700" u="none" cap="none" strike="noStrike">
              <a:solidFill>
                <a:schemeClr val="dk1"/>
              </a:solidFill>
              <a:latin typeface="Calibri"/>
              <a:ea typeface="Calibri"/>
              <a:cs typeface="Calibri"/>
              <a:sym typeface="Calibri"/>
            </a:endParaRPr>
          </a:p>
        </p:txBody>
      </p:sp>
      <p:sp>
        <p:nvSpPr>
          <p:cNvPr id="108" name="Google Shape;108;p5"/>
          <p:cNvSpPr/>
          <p:nvPr/>
        </p:nvSpPr>
        <p:spPr>
          <a:xfrm>
            <a:off x="6178855" y="2913143"/>
            <a:ext cx="2834700" cy="1371600"/>
          </a:xfrm>
          <a:prstGeom prst="rect">
            <a:avLst/>
          </a:prstGeom>
          <a:solidFill>
            <a:srgbClr val="F0FFF4"/>
          </a:solidFill>
          <a:ln cap="flat" cmpd="sng" w="12700">
            <a:solidFill>
              <a:srgbClr val="059669">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6297727" y="2986295"/>
            <a:ext cx="26517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750"/>
              <a:buFont typeface="Calibri"/>
              <a:buNone/>
            </a:pPr>
            <a:r>
              <a:rPr b="1" i="0" lang="en-US" sz="750" u="none" cap="none" strike="noStrike">
                <a:solidFill>
                  <a:srgbClr val="059669"/>
                </a:solidFill>
                <a:latin typeface="Calibri"/>
                <a:ea typeface="Calibri"/>
                <a:cs typeface="Calibri"/>
                <a:sym typeface="Calibri"/>
              </a:rPr>
              <a:t>NGƯỜI DÙNG</a:t>
            </a:r>
            <a:endParaRPr b="0" i="0" sz="750" u="none" cap="none" strike="noStrike">
              <a:solidFill>
                <a:schemeClr val="dk1"/>
              </a:solidFill>
              <a:latin typeface="Calibri"/>
              <a:ea typeface="Calibri"/>
              <a:cs typeface="Calibri"/>
              <a:sym typeface="Calibri"/>
            </a:endParaRPr>
          </a:p>
        </p:txBody>
      </p:sp>
      <p:sp>
        <p:nvSpPr>
          <p:cNvPr id="110" name="Google Shape;110;p5"/>
          <p:cNvSpPr/>
          <p:nvPr/>
        </p:nvSpPr>
        <p:spPr>
          <a:xfrm>
            <a:off x="6334303" y="3306335"/>
            <a:ext cx="804600" cy="384000"/>
          </a:xfrm>
          <a:prstGeom prst="rect">
            <a:avLst/>
          </a:prstGeom>
          <a:solidFill>
            <a:srgbClr val="059669">
              <a:alpha val="74901"/>
            </a:srgbClr>
          </a:solidFill>
          <a:ln cap="flat" cmpd="sng" w="12700">
            <a:solidFill>
              <a:srgbClr val="059669">
                <a:alpha val="7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6334303" y="3306335"/>
            <a:ext cx="804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Bác sĩ</a:t>
            </a:r>
            <a:endParaRPr b="0" i="0" sz="900" u="none" cap="none" strike="noStrike">
              <a:solidFill>
                <a:schemeClr val="dk1"/>
              </a:solidFill>
              <a:latin typeface="Calibri"/>
              <a:ea typeface="Calibri"/>
              <a:cs typeface="Calibri"/>
              <a:sym typeface="Calibri"/>
            </a:endParaRPr>
          </a:p>
        </p:txBody>
      </p:sp>
      <p:sp>
        <p:nvSpPr>
          <p:cNvPr id="112" name="Google Shape;112;p5"/>
          <p:cNvSpPr/>
          <p:nvPr/>
        </p:nvSpPr>
        <p:spPr>
          <a:xfrm>
            <a:off x="7248703" y="3306335"/>
            <a:ext cx="804600" cy="384000"/>
          </a:xfrm>
          <a:prstGeom prst="rect">
            <a:avLst/>
          </a:prstGeom>
          <a:solidFill>
            <a:srgbClr val="059669">
              <a:alpha val="74901"/>
            </a:srgbClr>
          </a:solidFill>
          <a:ln cap="flat" cmpd="sng" w="12700">
            <a:solidFill>
              <a:srgbClr val="059669">
                <a:alpha val="7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7248703" y="3306335"/>
            <a:ext cx="804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Điều dưỡng</a:t>
            </a:r>
            <a:endParaRPr b="0" i="0" sz="900" u="none" cap="none" strike="noStrike">
              <a:solidFill>
                <a:schemeClr val="dk1"/>
              </a:solidFill>
              <a:latin typeface="Calibri"/>
              <a:ea typeface="Calibri"/>
              <a:cs typeface="Calibri"/>
              <a:sym typeface="Calibri"/>
            </a:endParaRPr>
          </a:p>
        </p:txBody>
      </p:sp>
      <p:sp>
        <p:nvSpPr>
          <p:cNvPr id="114" name="Google Shape;114;p5"/>
          <p:cNvSpPr/>
          <p:nvPr/>
        </p:nvSpPr>
        <p:spPr>
          <a:xfrm>
            <a:off x="8163103" y="3306335"/>
            <a:ext cx="804600" cy="384000"/>
          </a:xfrm>
          <a:prstGeom prst="rect">
            <a:avLst/>
          </a:prstGeom>
          <a:solidFill>
            <a:srgbClr val="059669">
              <a:alpha val="74901"/>
            </a:srgbClr>
          </a:solidFill>
          <a:ln cap="flat" cmpd="sng" w="12700">
            <a:solidFill>
              <a:srgbClr val="059669">
                <a:alpha val="7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163103" y="3306335"/>
            <a:ext cx="804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Lễ tân</a:t>
            </a:r>
            <a:endParaRPr b="0" i="0" sz="900" u="none" cap="none" strike="noStrike">
              <a:solidFill>
                <a:schemeClr val="dk1"/>
              </a:solidFill>
              <a:latin typeface="Calibri"/>
              <a:ea typeface="Calibri"/>
              <a:cs typeface="Calibri"/>
              <a:sym typeface="Calibri"/>
            </a:endParaRPr>
          </a:p>
        </p:txBody>
      </p:sp>
      <p:sp>
        <p:nvSpPr>
          <p:cNvPr id="116" name="Google Shape;116;p5"/>
          <p:cNvSpPr/>
          <p:nvPr/>
        </p:nvSpPr>
        <p:spPr>
          <a:xfrm>
            <a:off x="6297727" y="3754391"/>
            <a:ext cx="2651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Web App / Mobile</a:t>
            </a:r>
            <a:endParaRPr b="0" i="0" sz="950" u="none" cap="none" strike="noStrike">
              <a:solidFill>
                <a:schemeClr val="dk1"/>
              </a:solidFill>
              <a:latin typeface="Calibri"/>
              <a:ea typeface="Calibri"/>
              <a:cs typeface="Calibri"/>
              <a:sym typeface="Calibri"/>
            </a:endParaRPr>
          </a:p>
        </p:txBody>
      </p:sp>
      <p:sp>
        <p:nvSpPr>
          <p:cNvPr id="117" name="Google Shape;117;p5"/>
          <p:cNvSpPr/>
          <p:nvPr/>
        </p:nvSpPr>
        <p:spPr>
          <a:xfrm>
            <a:off x="365760" y="4636008"/>
            <a:ext cx="8412480" cy="329184"/>
          </a:xfrm>
          <a:prstGeom prst="rect">
            <a:avLst/>
          </a:prstGeom>
          <a:solidFill>
            <a:srgbClr val="E0F7F4"/>
          </a:solidFill>
          <a:ln cap="flat" cmpd="sng" w="12700">
            <a:solidFill>
              <a:srgbClr val="00A89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502920" y="463600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900"/>
              <a:buFont typeface="Calibri"/>
              <a:buNone/>
            </a:pPr>
            <a:r>
              <a:rPr b="1" i="0" lang="en-US" sz="900" u="none" cap="none" strike="noStrike">
                <a:solidFill>
                  <a:srgbClr val="028090"/>
                </a:solidFill>
                <a:latin typeface="Calibri"/>
                <a:ea typeface="Calibri"/>
                <a:cs typeface="Calibri"/>
                <a:sym typeface="Calibri"/>
              </a:rPr>
              <a:t>PHI không bao giờ rời hạ tầng bệnh viện  </a:t>
            </a:r>
            <a:r>
              <a:rPr b="0" i="0" lang="en-US" sz="900" u="none" cap="none" strike="noStrike">
                <a:solidFill>
                  <a:srgbClr val="64748B"/>
                </a:solidFill>
                <a:latin typeface="Calibri"/>
                <a:ea typeface="Calibri"/>
                <a:cs typeface="Calibri"/>
                <a:sym typeface="Calibri"/>
              </a:rPr>
              <a:t>·  </a:t>
            </a:r>
            <a:r>
              <a:rPr b="0" i="0" lang="en-US" sz="900" u="none" cap="none" strike="noStrike">
                <a:solidFill>
                  <a:srgbClr val="1E293B"/>
                </a:solidFill>
                <a:latin typeface="Calibri"/>
                <a:ea typeface="Calibri"/>
                <a:cs typeface="Calibri"/>
                <a:sym typeface="Calibri"/>
              </a:rPr>
              <a:t>Cloud chỉ nhận anonymized query  </a:t>
            </a:r>
            <a:r>
              <a:rPr b="0" i="0" lang="en-US" sz="900" u="none" cap="none" strike="noStrike">
                <a:solidFill>
                  <a:srgbClr val="64748B"/>
                </a:solidFill>
                <a:latin typeface="Calibri"/>
                <a:ea typeface="Calibri"/>
                <a:cs typeface="Calibri"/>
                <a:sym typeface="Calibri"/>
              </a:rPr>
              <a:t>·  </a:t>
            </a:r>
            <a:r>
              <a:rPr b="0" i="0" lang="en-US" sz="900" u="none" cap="none" strike="noStrike">
                <a:solidFill>
                  <a:srgbClr val="1E293B"/>
                </a:solidFill>
                <a:latin typeface="Calibri"/>
                <a:ea typeface="Calibri"/>
                <a:cs typeface="Calibri"/>
                <a:sym typeface="Calibri"/>
              </a:rPr>
              <a:t>Human review gate bắt buộc cho câu hỏi lâm sàng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9FC"/>
        </a:solidFill>
      </p:bgPr>
    </p:bg>
    <p:spTree>
      <p:nvGrpSpPr>
        <p:cNvPr id="123" name="Shape 123"/>
        <p:cNvGrpSpPr/>
        <p:nvPr/>
      </p:nvGrpSpPr>
      <p:grpSpPr>
        <a:xfrm>
          <a:off x="0" y="0"/>
          <a:ext cx="0" cy="0"/>
          <a:chOff x="0" y="0"/>
          <a:chExt cx="0" cy="0"/>
        </a:xfrm>
      </p:grpSpPr>
      <p:sp>
        <p:nvSpPr>
          <p:cNvPr id="124" name="Google Shape;124;p6"/>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04 / 07</a:t>
            </a:r>
            <a:endParaRPr b="0" i="0" sz="800" u="none" cap="none" strike="noStrike">
              <a:solidFill>
                <a:schemeClr val="dk1"/>
              </a:solidFill>
              <a:latin typeface="Calibri"/>
              <a:ea typeface="Calibri"/>
              <a:cs typeface="Calibri"/>
              <a:sym typeface="Calibri"/>
            </a:endParaRPr>
          </a:p>
        </p:txBody>
      </p:sp>
      <p:sp>
        <p:nvSpPr>
          <p:cNvPr id="125" name="Google Shape;125;p6"/>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2300"/>
              <a:buFont typeface="Trebuchet MS"/>
              <a:buNone/>
            </a:pPr>
            <a:r>
              <a:rPr b="1" i="0" lang="en-US" sz="2300" u="none" cap="none" strike="noStrike">
                <a:solidFill>
                  <a:srgbClr val="05445E"/>
                </a:solidFill>
                <a:latin typeface="Trebuchet MS"/>
                <a:ea typeface="Trebuchet MS"/>
                <a:cs typeface="Trebuchet MS"/>
                <a:sym typeface="Trebuchet MS"/>
              </a:rPr>
              <a:t>Cost Analysis — MVP vs Growth</a:t>
            </a:r>
            <a:endParaRPr b="0" i="0" sz="2300" u="none" cap="none" strike="noStrike">
              <a:solidFill>
                <a:schemeClr val="dk1"/>
              </a:solidFill>
              <a:latin typeface="Calibri"/>
              <a:ea typeface="Calibri"/>
              <a:cs typeface="Calibri"/>
              <a:sym typeface="Calibri"/>
            </a:endParaRPr>
          </a:p>
        </p:txBody>
      </p:sp>
      <p:sp>
        <p:nvSpPr>
          <p:cNvPr id="126" name="Google Shape;126;p6"/>
          <p:cNvSpPr/>
          <p:nvPr/>
        </p:nvSpPr>
        <p:spPr>
          <a:xfrm>
            <a:off x="457200" y="841248"/>
            <a:ext cx="8229600" cy="347472"/>
          </a:xfrm>
          <a:prstGeom prst="rect">
            <a:avLst/>
          </a:prstGeom>
          <a:solidFill>
            <a:srgbClr val="D6EAF8"/>
          </a:solidFill>
          <a:ln cap="flat" cmpd="sng" w="12700">
            <a:solidFill>
              <a:srgbClr val="D6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94360" y="841248"/>
            <a:ext cx="7955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950"/>
              <a:buFont typeface="Calibri"/>
              <a:buNone/>
            </a:pPr>
            <a:r>
              <a:rPr b="0" i="0" lang="en-US" sz="950" u="none" cap="none" strike="noStrike">
                <a:solidFill>
                  <a:srgbClr val="05445E"/>
                </a:solidFill>
                <a:latin typeface="Calibri"/>
                <a:ea typeface="Calibri"/>
                <a:cs typeface="Calibri"/>
                <a:sym typeface="Calibri"/>
              </a:rPr>
              <a:t>Giả định: ~2.500 tokens/request (2.000 input + 500 output)  ·  MVP: 50 users, 750 req/ngày  ·  Growth: 300 users, 6.000 req/ngày</a:t>
            </a:r>
            <a:endParaRPr b="0" i="0" sz="950" u="none" cap="none" strike="noStrike">
              <a:solidFill>
                <a:schemeClr val="dk1"/>
              </a:solidFill>
              <a:latin typeface="Calibri"/>
              <a:ea typeface="Calibri"/>
              <a:cs typeface="Calibri"/>
              <a:sym typeface="Calibri"/>
            </a:endParaRPr>
          </a:p>
        </p:txBody>
      </p:sp>
      <p:graphicFrame>
        <p:nvGraphicFramePr>
          <p:cNvPr id="128" name="Google Shape;128;p6"/>
          <p:cNvGraphicFramePr/>
          <p:nvPr/>
        </p:nvGraphicFramePr>
        <p:xfrm>
          <a:off x="457200" y="1298448"/>
          <a:ext cx="3000000" cy="3000000"/>
        </p:xfrm>
        <a:graphic>
          <a:graphicData uri="http://schemas.openxmlformats.org/drawingml/2006/table">
            <a:tbl>
              <a:tblPr>
                <a:noFill/>
                <a:tableStyleId>{399EC199-536A-428B-9BDC-CC155C7E13A1}</a:tableStyleId>
              </a:tblPr>
              <a:tblGrid>
                <a:gridCol w="2560325"/>
                <a:gridCol w="1371600"/>
                <a:gridCol w="1371600"/>
              </a:tblGrid>
              <a:tr h="3474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Thành phần</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MVP / tháng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Growth / tháng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r>
              <a:tr h="347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LLM API (Claude Haiku)</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$56</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$450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Embedding (text-embedding-3-small)</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$5</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$30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Vector DB + Storage (on-prem)</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$50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$140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DC2626"/>
                        </a:buClr>
                        <a:buSzPts val="1000"/>
                        <a:buFont typeface="Calibri"/>
                        <a:buNone/>
                      </a:pPr>
                      <a:r>
                        <a:rPr b="1" lang="en-US" sz="1000" u="none" cap="none" strike="noStrike">
                          <a:solidFill>
                            <a:srgbClr val="DC2626"/>
                          </a:solidFill>
                          <a:latin typeface="Calibri"/>
                          <a:ea typeface="Calibri"/>
                          <a:cs typeface="Calibri"/>
                          <a:sym typeface="Calibri"/>
                        </a:rPr>
                        <a:t>Human review labor  ★</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DC2626"/>
                        </a:buClr>
                        <a:buSzPts val="1000"/>
                        <a:buFont typeface="Calibri"/>
                        <a:buNone/>
                      </a:pPr>
                      <a:r>
                        <a:rPr b="1" lang="en-US" sz="1000" u="none" cap="none" strike="noStrike">
                          <a:solidFill>
                            <a:srgbClr val="DC2626"/>
                          </a:solidFill>
                          <a:latin typeface="Calibri"/>
                          <a:ea typeface="Calibri"/>
                          <a:cs typeface="Calibri"/>
                          <a:sym typeface="Calibri"/>
                        </a:rPr>
                        <a:t>$200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DC2626"/>
                        </a:buClr>
                        <a:buSzPts val="1000"/>
                        <a:buFont typeface="Calibri"/>
                        <a:buNone/>
                      </a:pPr>
                      <a:r>
                        <a:rPr b="1" lang="en-US" sz="1000" u="none" cap="none" strike="noStrike">
                          <a:solidFill>
                            <a:srgbClr val="DC2626"/>
                          </a:solidFill>
                          <a:latin typeface="Calibri"/>
                          <a:ea typeface="Calibri"/>
                          <a:cs typeface="Calibri"/>
                          <a:sym typeface="Calibri"/>
                        </a:rPr>
                        <a:t>$800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Audit &amp; monitoring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$15</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$40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Ops &amp; maintenance</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$100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$200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474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TỔNG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~$426</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~$1.660</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28090"/>
                    </a:solidFill>
                  </a:tcPr>
                </a:tc>
              </a:tr>
              <a:tr h="347475">
                <a:tc>
                  <a:txBody>
                    <a:bodyPr/>
                    <a:lstStyle/>
                    <a:p>
                      <a:pPr indent="0" lvl="0" marL="0" marR="0" rtl="0" algn="l">
                        <a:spcBef>
                          <a:spcPts val="0"/>
                        </a:spcBef>
                        <a:spcAft>
                          <a:spcPts val="0"/>
                        </a:spcAft>
                        <a:buClr>
                          <a:srgbClr val="64748B"/>
                        </a:buClr>
                        <a:buSzPts val="1000"/>
                        <a:buFont typeface="Calibri"/>
                        <a:buNone/>
                      </a:pPr>
                      <a:r>
                        <a:rPr i="1" lang="en-US" sz="1000" u="none" cap="none" strike="noStrike">
                          <a:solidFill>
                            <a:srgbClr val="64748B"/>
                          </a:solidFill>
                          <a:latin typeface="Calibri"/>
                          <a:ea typeface="Calibri"/>
                          <a:cs typeface="Calibri"/>
                          <a:sym typeface="Calibri"/>
                        </a:rPr>
                        <a:t>Cost/user/tháng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i="1" lang="en-US" sz="1000" u="none" cap="none" strike="noStrike">
                          <a:solidFill>
                            <a:srgbClr val="64748B"/>
                          </a:solidFill>
                          <a:latin typeface="Calibri"/>
                          <a:ea typeface="Calibri"/>
                          <a:cs typeface="Calibri"/>
                          <a:sym typeface="Calibri"/>
                        </a:rPr>
                        <a:t>$8.5</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059669"/>
                        </a:buClr>
                        <a:buSzPts val="1000"/>
                        <a:buFont typeface="Calibri"/>
                        <a:buNone/>
                      </a:pPr>
                      <a:r>
                        <a:rPr i="1" lang="en-US" sz="1000" u="none" cap="none" strike="noStrike">
                          <a:solidFill>
                            <a:srgbClr val="059669"/>
                          </a:solidFill>
                          <a:latin typeface="Calibri"/>
                          <a:ea typeface="Calibri"/>
                          <a:cs typeface="Calibri"/>
                          <a:sym typeface="Calibri"/>
                        </a:rPr>
                        <a:t>$5.5</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pic>
        <p:nvPicPr>
          <p:cNvPr id="129" name="Google Shape;129;p6"/>
          <p:cNvPicPr preferRelativeResize="0"/>
          <p:nvPr/>
        </p:nvPicPr>
        <p:blipFill rotWithShape="1">
          <a:blip r:embed="rId3">
            <a:alphaModFix/>
          </a:blip>
          <a:srcRect b="0" l="0" r="0" t="0"/>
          <a:stretch/>
        </p:blipFill>
        <p:spPr>
          <a:xfrm>
            <a:off x="5943600" y="1261872"/>
            <a:ext cx="2880360" cy="3429000"/>
          </a:xfrm>
          <a:prstGeom prst="rect">
            <a:avLst/>
          </a:prstGeom>
          <a:noFill/>
          <a:ln>
            <a:noFill/>
          </a:ln>
        </p:spPr>
      </p:pic>
      <p:sp>
        <p:nvSpPr>
          <p:cNvPr id="130" name="Google Shape;130;p6"/>
          <p:cNvSpPr/>
          <p:nvPr/>
        </p:nvSpPr>
        <p:spPr>
          <a:xfrm>
            <a:off x="457200" y="4773168"/>
            <a:ext cx="8229600" cy="292608"/>
          </a:xfrm>
          <a:prstGeom prst="rect">
            <a:avLst/>
          </a:prstGeom>
          <a:solidFill>
            <a:srgbClr val="FFF3CD"/>
          </a:solidFill>
          <a:ln cap="flat" cmpd="sng" w="12700">
            <a:solidFill>
              <a:srgbClr val="D9770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594360" y="4773168"/>
            <a:ext cx="7955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alibri"/>
              <a:buNone/>
            </a:pPr>
            <a:r>
              <a:rPr b="0" i="0" lang="en-US" sz="900" u="none" cap="none" strike="noStrike">
                <a:solidFill>
                  <a:srgbClr val="1E293B"/>
                </a:solidFill>
                <a:latin typeface="Calibri"/>
                <a:ea typeface="Calibri"/>
                <a:cs typeface="Calibri"/>
                <a:sym typeface="Calibri"/>
              </a:rPr>
              <a:t>★ Cost driver lớn nhất: Human review chiếm 47% tổng chi phí MVP — thường bị bỏ quên khi estimate AI cost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9FC"/>
        </a:solidFill>
      </p:bgPr>
    </p:bg>
    <p:spTree>
      <p:nvGrpSpPr>
        <p:cNvPr id="136" name="Shape 136"/>
        <p:cNvGrpSpPr/>
        <p:nvPr/>
      </p:nvGrpSpPr>
      <p:grpSpPr>
        <a:xfrm>
          <a:off x="0" y="0"/>
          <a:ext cx="0" cy="0"/>
          <a:chOff x="0" y="0"/>
          <a:chExt cx="0" cy="0"/>
        </a:xfrm>
      </p:grpSpPr>
      <p:sp>
        <p:nvSpPr>
          <p:cNvPr id="137" name="Google Shape;137;p7"/>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05 / 07</a:t>
            </a:r>
            <a:endParaRPr b="0" i="0" sz="800" u="none" cap="none" strike="noStrike">
              <a:solidFill>
                <a:schemeClr val="dk1"/>
              </a:solidFill>
              <a:latin typeface="Calibri"/>
              <a:ea typeface="Calibri"/>
              <a:cs typeface="Calibri"/>
              <a:sym typeface="Calibri"/>
            </a:endParaRPr>
          </a:p>
        </p:txBody>
      </p:sp>
      <p:sp>
        <p:nvSpPr>
          <p:cNvPr id="138" name="Google Shape;138;p7"/>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2300"/>
              <a:buFont typeface="Trebuchet MS"/>
              <a:buNone/>
            </a:pPr>
            <a:r>
              <a:rPr b="1" i="0" lang="en-US" sz="2300" u="none" cap="none" strike="noStrike">
                <a:solidFill>
                  <a:srgbClr val="05445E"/>
                </a:solidFill>
                <a:latin typeface="Trebuchet MS"/>
                <a:ea typeface="Trebuchet MS"/>
                <a:cs typeface="Trebuchet MS"/>
                <a:sym typeface="Trebuchet MS"/>
              </a:rPr>
              <a:t>Cost Optimization Plan</a:t>
            </a:r>
            <a:endParaRPr b="0" i="0" sz="2300" u="none" cap="none" strike="noStrike">
              <a:solidFill>
                <a:schemeClr val="dk1"/>
              </a:solidFill>
              <a:latin typeface="Calibri"/>
              <a:ea typeface="Calibri"/>
              <a:cs typeface="Calibri"/>
              <a:sym typeface="Calibri"/>
            </a:endParaRPr>
          </a:p>
        </p:txBody>
      </p:sp>
      <p:sp>
        <p:nvSpPr>
          <p:cNvPr id="139" name="Google Shape;139;p7"/>
          <p:cNvSpPr/>
          <p:nvPr/>
        </p:nvSpPr>
        <p:spPr>
          <a:xfrm>
            <a:off x="457200" y="822960"/>
            <a:ext cx="2651760" cy="3520440"/>
          </a:xfrm>
          <a:prstGeom prst="rect">
            <a:avLst/>
          </a:prstGeom>
          <a:solidFill>
            <a:srgbClr val="FFFFFF"/>
          </a:solidFill>
          <a:ln cap="flat" cmpd="sng" w="12700">
            <a:solidFill>
              <a:srgbClr val="E5E7EB"/>
            </a:solidFill>
            <a:prstDash val="solid"/>
            <a:round/>
            <a:headEnd len="sm" w="sm" type="none"/>
            <a:tailEnd len="sm" w="sm" type="none"/>
          </a:ln>
          <a:effectLst>
            <a:outerShdw blurRad="1270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457200" y="822960"/>
            <a:ext cx="2651760" cy="47548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566928" y="822960"/>
            <a:ext cx="243230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01  Model Routing</a:t>
            </a:r>
            <a:endParaRPr b="0" i="0" sz="1200" u="none" cap="none" strike="noStrike">
              <a:solidFill>
                <a:schemeClr val="dk1"/>
              </a:solidFill>
              <a:latin typeface="Calibri"/>
              <a:ea typeface="Calibri"/>
              <a:cs typeface="Calibri"/>
              <a:sym typeface="Calibri"/>
            </a:endParaRPr>
          </a:p>
        </p:txBody>
      </p:sp>
      <p:sp>
        <p:nvSpPr>
          <p:cNvPr id="142" name="Google Shape;142;p7"/>
          <p:cNvSpPr/>
          <p:nvPr/>
        </p:nvSpPr>
        <p:spPr>
          <a:xfrm>
            <a:off x="566928" y="1408176"/>
            <a:ext cx="2432304" cy="256032"/>
          </a:xfrm>
          <a:prstGeom prst="rect">
            <a:avLst/>
          </a:prstGeom>
          <a:solidFill>
            <a:srgbClr val="028090">
              <a:alpha val="12156"/>
            </a:srgbClr>
          </a:solidFill>
          <a:ln cap="flat" cmpd="sng" w="12700">
            <a:solidFill>
              <a:srgbClr val="02809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566928" y="1408176"/>
            <a:ext cx="243230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800"/>
              <a:buFont typeface="Calibri"/>
              <a:buNone/>
            </a:pPr>
            <a:r>
              <a:rPr b="1" i="0" lang="en-US" sz="800" u="none" cap="none" strike="noStrike">
                <a:solidFill>
                  <a:srgbClr val="028090"/>
                </a:solidFill>
                <a:latin typeface="Calibri"/>
                <a:ea typeface="Calibri"/>
                <a:cs typeface="Calibri"/>
                <a:sym typeface="Calibri"/>
              </a:rPr>
              <a:t>Áp dụng ngay — từ MVP</a:t>
            </a:r>
            <a:endParaRPr b="0" i="0" sz="800" u="none" cap="none" strike="noStrike">
              <a:solidFill>
                <a:schemeClr val="dk1"/>
              </a:solidFill>
              <a:latin typeface="Calibri"/>
              <a:ea typeface="Calibri"/>
              <a:cs typeface="Calibri"/>
              <a:sym typeface="Calibri"/>
            </a:endParaRPr>
          </a:p>
        </p:txBody>
      </p:sp>
      <p:sp>
        <p:nvSpPr>
          <p:cNvPr id="144" name="Google Shape;144;p7"/>
          <p:cNvSpPr/>
          <p:nvPr/>
        </p:nvSpPr>
        <p:spPr>
          <a:xfrm>
            <a:off x="566928" y="1755648"/>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Tiết kiệm: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566928" y="1965960"/>
            <a:ext cx="243230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800"/>
              <a:buFont typeface="Trebuchet MS"/>
              <a:buNone/>
            </a:pPr>
            <a:r>
              <a:rPr b="1" i="0" lang="en-US" sz="1800" u="none" cap="none" strike="noStrike">
                <a:solidFill>
                  <a:srgbClr val="028090"/>
                </a:solidFill>
                <a:latin typeface="Trebuchet MS"/>
                <a:ea typeface="Trebuchet MS"/>
                <a:cs typeface="Trebuchet MS"/>
                <a:sym typeface="Trebuchet MS"/>
              </a:rPr>
              <a:t>~40% LLM cost</a:t>
            </a:r>
            <a:endParaRPr b="0" i="0" sz="1800" u="none" cap="none" strike="noStrike">
              <a:solidFill>
                <a:schemeClr val="dk1"/>
              </a:solidFill>
              <a:latin typeface="Calibri"/>
              <a:ea typeface="Calibri"/>
              <a:cs typeface="Calibri"/>
              <a:sym typeface="Calibri"/>
            </a:endParaRPr>
          </a:p>
        </p:txBody>
      </p:sp>
      <p:sp>
        <p:nvSpPr>
          <p:cNvPr id="146" name="Google Shape;146;p7"/>
          <p:cNvSpPr/>
          <p:nvPr/>
        </p:nvSpPr>
        <p:spPr>
          <a:xfrm>
            <a:off x="566928" y="2450592"/>
            <a:ext cx="2432304"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FAQ / hành chính → Claude Haiku</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Lâm sàng / phức tạp → Claude Sonnet</a:t>
            </a:r>
            <a:endParaRPr b="0" i="0" sz="950" u="none" cap="none" strike="noStrike">
              <a:solidFill>
                <a:schemeClr val="dk1"/>
              </a:solidFill>
              <a:latin typeface="Calibri"/>
              <a:ea typeface="Calibri"/>
              <a:cs typeface="Calibri"/>
              <a:sym typeface="Calibri"/>
            </a:endParaRPr>
          </a:p>
        </p:txBody>
      </p:sp>
      <p:sp>
        <p:nvSpPr>
          <p:cNvPr id="147" name="Google Shape;147;p7"/>
          <p:cNvSpPr/>
          <p:nvPr/>
        </p:nvSpPr>
        <p:spPr>
          <a:xfrm>
            <a:off x="566928" y="3456432"/>
            <a:ext cx="2432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Trade-off: Thêm latency ~50ms, cần maintain classifier</a:t>
            </a:r>
            <a:endParaRPr b="0" i="0" sz="850" u="none" cap="none" strike="noStrike">
              <a:solidFill>
                <a:schemeClr val="dk1"/>
              </a:solidFill>
              <a:latin typeface="Calibri"/>
              <a:ea typeface="Calibri"/>
              <a:cs typeface="Calibri"/>
              <a:sym typeface="Calibri"/>
            </a:endParaRPr>
          </a:p>
        </p:txBody>
      </p:sp>
      <p:sp>
        <p:nvSpPr>
          <p:cNvPr id="148" name="Google Shape;148;p7"/>
          <p:cNvSpPr/>
          <p:nvPr/>
        </p:nvSpPr>
        <p:spPr>
          <a:xfrm>
            <a:off x="3273552" y="822960"/>
            <a:ext cx="2651760" cy="3520440"/>
          </a:xfrm>
          <a:prstGeom prst="rect">
            <a:avLst/>
          </a:prstGeom>
          <a:solidFill>
            <a:srgbClr val="FFFFFF"/>
          </a:solidFill>
          <a:ln cap="flat" cmpd="sng" w="12700">
            <a:solidFill>
              <a:srgbClr val="E5E7EB"/>
            </a:solidFill>
            <a:prstDash val="solid"/>
            <a:round/>
            <a:headEnd len="sm" w="sm" type="none"/>
            <a:tailEnd len="sm" w="sm" type="none"/>
          </a:ln>
          <a:effectLst>
            <a:outerShdw blurRad="1270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3273552" y="822960"/>
            <a:ext cx="2651760" cy="47548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3383280" y="822960"/>
            <a:ext cx="243230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02  Semantic Caching</a:t>
            </a:r>
            <a:endParaRPr b="0" i="0" sz="1200" u="none" cap="none" strike="noStrike">
              <a:solidFill>
                <a:schemeClr val="dk1"/>
              </a:solidFill>
              <a:latin typeface="Calibri"/>
              <a:ea typeface="Calibri"/>
              <a:cs typeface="Calibri"/>
              <a:sym typeface="Calibri"/>
            </a:endParaRPr>
          </a:p>
        </p:txBody>
      </p:sp>
      <p:sp>
        <p:nvSpPr>
          <p:cNvPr id="151" name="Google Shape;151;p7"/>
          <p:cNvSpPr/>
          <p:nvPr/>
        </p:nvSpPr>
        <p:spPr>
          <a:xfrm>
            <a:off x="3383280" y="1408176"/>
            <a:ext cx="2432304" cy="256032"/>
          </a:xfrm>
          <a:prstGeom prst="rect">
            <a:avLst/>
          </a:prstGeom>
          <a:solidFill>
            <a:srgbClr val="00A896">
              <a:alpha val="12156"/>
            </a:srgbClr>
          </a:solidFill>
          <a:ln cap="flat" cmpd="sng" w="12700">
            <a:solidFill>
              <a:srgbClr val="00A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3383280" y="1408176"/>
            <a:ext cx="243230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800"/>
              <a:buFont typeface="Calibri"/>
              <a:buNone/>
            </a:pPr>
            <a:r>
              <a:rPr b="1" i="0" lang="en-US" sz="800" u="none" cap="none" strike="noStrike">
                <a:solidFill>
                  <a:srgbClr val="00A896"/>
                </a:solidFill>
                <a:latin typeface="Calibri"/>
                <a:ea typeface="Calibri"/>
                <a:cs typeface="Calibri"/>
                <a:sym typeface="Calibri"/>
              </a:rPr>
              <a:t>Áp dụng ngay — từ MVP</a:t>
            </a:r>
            <a:endParaRPr b="0" i="0" sz="800" u="none" cap="none" strike="noStrike">
              <a:solidFill>
                <a:schemeClr val="dk1"/>
              </a:solidFill>
              <a:latin typeface="Calibri"/>
              <a:ea typeface="Calibri"/>
              <a:cs typeface="Calibri"/>
              <a:sym typeface="Calibri"/>
            </a:endParaRPr>
          </a:p>
        </p:txBody>
      </p:sp>
      <p:sp>
        <p:nvSpPr>
          <p:cNvPr id="153" name="Google Shape;153;p7"/>
          <p:cNvSpPr/>
          <p:nvPr/>
        </p:nvSpPr>
        <p:spPr>
          <a:xfrm>
            <a:off x="3383280" y="1755648"/>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Tiết kiệm:</a:t>
            </a:r>
            <a:endParaRPr b="0" i="0" sz="900" u="none" cap="none" strike="noStrike">
              <a:solidFill>
                <a:schemeClr val="dk1"/>
              </a:solidFill>
              <a:latin typeface="Calibri"/>
              <a:ea typeface="Calibri"/>
              <a:cs typeface="Calibri"/>
              <a:sym typeface="Calibri"/>
            </a:endParaRPr>
          </a:p>
        </p:txBody>
      </p:sp>
      <p:sp>
        <p:nvSpPr>
          <p:cNvPr id="154" name="Google Shape;154;p7"/>
          <p:cNvSpPr/>
          <p:nvPr/>
        </p:nvSpPr>
        <p:spPr>
          <a:xfrm>
            <a:off x="3383280" y="1965960"/>
            <a:ext cx="243230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800"/>
              <a:buFont typeface="Trebuchet MS"/>
              <a:buNone/>
            </a:pPr>
            <a:r>
              <a:rPr b="1" i="0" lang="en-US" sz="1800" u="none" cap="none" strike="noStrike">
                <a:solidFill>
                  <a:srgbClr val="00A896"/>
                </a:solidFill>
                <a:latin typeface="Trebuchet MS"/>
                <a:ea typeface="Trebuchet MS"/>
                <a:cs typeface="Trebuchet MS"/>
                <a:sym typeface="Trebuchet MS"/>
              </a:rPr>
              <a:t>~25% LLM calls</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3383280" y="2450592"/>
            <a:ext cx="2432304"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Cache câu hỏi FAQ (cosine similarity &gt; 0.92). TTL = 24h. Không cache câu hỏi lâm sàng.</a:t>
            </a:r>
            <a:endParaRPr b="0" i="0" sz="950" u="none" cap="none" strike="noStrike">
              <a:solidFill>
                <a:schemeClr val="dk1"/>
              </a:solidFill>
              <a:latin typeface="Calibri"/>
              <a:ea typeface="Calibri"/>
              <a:cs typeface="Calibri"/>
              <a:sym typeface="Calibri"/>
            </a:endParaRPr>
          </a:p>
        </p:txBody>
      </p:sp>
      <p:sp>
        <p:nvSpPr>
          <p:cNvPr id="156" name="Google Shape;156;p7"/>
          <p:cNvSpPr/>
          <p:nvPr/>
        </p:nvSpPr>
        <p:spPr>
          <a:xfrm>
            <a:off x="3383280" y="3456432"/>
            <a:ext cx="2432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Trade-off: Dữ liệu y tế thay đổi → TTL ngắn để tránh stale data</a:t>
            </a:r>
            <a:endParaRPr b="0" i="0" sz="850" u="none" cap="none" strike="noStrike">
              <a:solidFill>
                <a:schemeClr val="dk1"/>
              </a:solidFill>
              <a:latin typeface="Calibri"/>
              <a:ea typeface="Calibri"/>
              <a:cs typeface="Calibri"/>
              <a:sym typeface="Calibri"/>
            </a:endParaRPr>
          </a:p>
        </p:txBody>
      </p:sp>
      <p:sp>
        <p:nvSpPr>
          <p:cNvPr id="157" name="Google Shape;157;p7"/>
          <p:cNvSpPr/>
          <p:nvPr/>
        </p:nvSpPr>
        <p:spPr>
          <a:xfrm>
            <a:off x="6089904" y="822960"/>
            <a:ext cx="2651760" cy="3520440"/>
          </a:xfrm>
          <a:prstGeom prst="rect">
            <a:avLst/>
          </a:prstGeom>
          <a:solidFill>
            <a:srgbClr val="FFFFFF"/>
          </a:solidFill>
          <a:ln cap="flat" cmpd="sng" w="12700">
            <a:solidFill>
              <a:srgbClr val="E5E7EB"/>
            </a:solidFill>
            <a:prstDash val="solid"/>
            <a:round/>
            <a:headEnd len="sm" w="sm" type="none"/>
            <a:tailEnd len="sm" w="sm" type="none"/>
          </a:ln>
          <a:effectLst>
            <a:outerShdw blurRad="1270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6089904" y="822960"/>
            <a:ext cx="2651760" cy="475488"/>
          </a:xfrm>
          <a:prstGeom prst="rect">
            <a:avLst/>
          </a:prstGeom>
          <a:solidFill>
            <a:srgbClr val="05445E"/>
          </a:solidFill>
          <a:ln cap="flat" cmpd="sng" w="12700">
            <a:solidFill>
              <a:srgbClr val="0544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6199632" y="822960"/>
            <a:ext cx="2432304"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03  Selective Human Review</a:t>
            </a:r>
            <a:endParaRPr b="0" i="0" sz="1200" u="none" cap="none" strike="noStrike">
              <a:solidFill>
                <a:schemeClr val="dk1"/>
              </a:solidFill>
              <a:latin typeface="Calibri"/>
              <a:ea typeface="Calibri"/>
              <a:cs typeface="Calibri"/>
              <a:sym typeface="Calibri"/>
            </a:endParaRPr>
          </a:p>
        </p:txBody>
      </p:sp>
      <p:sp>
        <p:nvSpPr>
          <p:cNvPr id="160" name="Google Shape;160;p7"/>
          <p:cNvSpPr/>
          <p:nvPr/>
        </p:nvSpPr>
        <p:spPr>
          <a:xfrm>
            <a:off x="6199632" y="1408176"/>
            <a:ext cx="2432304" cy="256032"/>
          </a:xfrm>
          <a:prstGeom prst="rect">
            <a:avLst/>
          </a:prstGeom>
          <a:solidFill>
            <a:srgbClr val="05445E">
              <a:alpha val="12156"/>
            </a:srgbClr>
          </a:solidFill>
          <a:ln cap="flat" cmpd="sng" w="12700">
            <a:solidFill>
              <a:srgbClr val="05445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6199632" y="1408176"/>
            <a:ext cx="243230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445E"/>
              </a:buClr>
              <a:buSzPts val="800"/>
              <a:buFont typeface="Calibri"/>
              <a:buNone/>
            </a:pPr>
            <a:r>
              <a:rPr b="1" i="0" lang="en-US" sz="800" u="none" cap="none" strike="noStrike">
                <a:solidFill>
                  <a:srgbClr val="05445E"/>
                </a:solidFill>
                <a:latin typeface="Calibri"/>
                <a:ea typeface="Calibri"/>
                <a:cs typeface="Calibri"/>
                <a:sym typeface="Calibri"/>
              </a:rPr>
              <a:t>Giai đoạn Growth</a:t>
            </a:r>
            <a:endParaRPr b="0" i="0" sz="800" u="none" cap="none" strike="noStrike">
              <a:solidFill>
                <a:schemeClr val="dk1"/>
              </a:solidFill>
              <a:latin typeface="Calibri"/>
              <a:ea typeface="Calibri"/>
              <a:cs typeface="Calibri"/>
              <a:sym typeface="Calibri"/>
            </a:endParaRPr>
          </a:p>
        </p:txBody>
      </p:sp>
      <p:sp>
        <p:nvSpPr>
          <p:cNvPr id="162" name="Google Shape;162;p7"/>
          <p:cNvSpPr/>
          <p:nvPr/>
        </p:nvSpPr>
        <p:spPr>
          <a:xfrm>
            <a:off x="6199632" y="1755648"/>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Tiết kiệm:</a:t>
            </a:r>
            <a:endParaRPr b="0" i="0" sz="900" u="none" cap="none" strike="noStrike">
              <a:solidFill>
                <a:schemeClr val="dk1"/>
              </a:solidFill>
              <a:latin typeface="Calibri"/>
              <a:ea typeface="Calibri"/>
              <a:cs typeface="Calibri"/>
              <a:sym typeface="Calibri"/>
            </a:endParaRPr>
          </a:p>
        </p:txBody>
      </p:sp>
      <p:sp>
        <p:nvSpPr>
          <p:cNvPr id="163" name="Google Shape;163;p7"/>
          <p:cNvSpPr/>
          <p:nvPr/>
        </p:nvSpPr>
        <p:spPr>
          <a:xfrm>
            <a:off x="6199632" y="1965960"/>
            <a:ext cx="243230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1800"/>
              <a:buFont typeface="Trebuchet MS"/>
              <a:buNone/>
            </a:pPr>
            <a:r>
              <a:rPr b="1" i="0" lang="en-US" sz="1800" u="none" cap="none" strike="noStrike">
                <a:solidFill>
                  <a:srgbClr val="05445E"/>
                </a:solidFill>
                <a:latin typeface="Trebuchet MS"/>
                <a:ea typeface="Trebuchet MS"/>
                <a:cs typeface="Trebuchet MS"/>
                <a:sym typeface="Trebuchet MS"/>
              </a:rPr>
              <a:t>~50% review cost</a:t>
            </a:r>
            <a:endParaRPr b="0" i="0" sz="1800" u="none" cap="none" strike="noStrike">
              <a:solidFill>
                <a:schemeClr val="dk1"/>
              </a:solidFill>
              <a:latin typeface="Calibri"/>
              <a:ea typeface="Calibri"/>
              <a:cs typeface="Calibri"/>
              <a:sym typeface="Calibri"/>
            </a:endParaRPr>
          </a:p>
        </p:txBody>
      </p:sp>
      <p:sp>
        <p:nvSpPr>
          <p:cNvPr id="164" name="Google Shape;164;p7"/>
          <p:cNvSpPr/>
          <p:nvPr/>
        </p:nvSpPr>
        <p:spPr>
          <a:xfrm>
            <a:off x="6199632" y="2450592"/>
            <a:ext cx="2432304"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Chỉ review khi confidence &lt; 0.75 hoặc category lâm sàng. Giảm từ 10% → 3–4% request.</a:t>
            </a:r>
            <a:endParaRPr b="0" i="0" sz="950" u="none" cap="none" strike="noStrike">
              <a:solidFill>
                <a:schemeClr val="dk1"/>
              </a:solidFill>
              <a:latin typeface="Calibri"/>
              <a:ea typeface="Calibri"/>
              <a:cs typeface="Calibri"/>
              <a:sym typeface="Calibri"/>
            </a:endParaRPr>
          </a:p>
        </p:txBody>
      </p:sp>
      <p:sp>
        <p:nvSpPr>
          <p:cNvPr id="165" name="Google Shape;165;p7"/>
          <p:cNvSpPr/>
          <p:nvPr/>
        </p:nvSpPr>
        <p:spPr>
          <a:xfrm>
            <a:off x="6199632" y="3456432"/>
            <a:ext cx="2432304"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Trade-off: Cần calibrate threshold đúng — sai ngưỡng bỏ qua case quan trọng</a:t>
            </a:r>
            <a:endParaRPr b="0" i="0" sz="850" u="none" cap="none" strike="noStrike">
              <a:solidFill>
                <a:schemeClr val="dk1"/>
              </a:solidFill>
              <a:latin typeface="Calibri"/>
              <a:ea typeface="Calibri"/>
              <a:cs typeface="Calibri"/>
              <a:sym typeface="Calibri"/>
            </a:endParaRPr>
          </a:p>
        </p:txBody>
      </p:sp>
      <p:sp>
        <p:nvSpPr>
          <p:cNvPr id="166" name="Google Shape;166;p7"/>
          <p:cNvSpPr/>
          <p:nvPr/>
        </p:nvSpPr>
        <p:spPr>
          <a:xfrm>
            <a:off x="457200" y="4480560"/>
            <a:ext cx="8229600" cy="457200"/>
          </a:xfrm>
          <a:prstGeom prst="rect">
            <a:avLst/>
          </a:prstGeom>
          <a:solidFill>
            <a:srgbClr val="E0F7F4"/>
          </a:solidFill>
          <a:ln cap="flat" cmpd="sng" w="12700">
            <a:solidFill>
              <a:srgbClr val="00A89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594360" y="4480560"/>
            <a:ext cx="7955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i="0" lang="en-US" sz="1100" u="none" cap="none" strike="noStrike">
                <a:solidFill>
                  <a:srgbClr val="028090"/>
                </a:solidFill>
                <a:latin typeface="Calibri"/>
                <a:ea typeface="Calibri"/>
                <a:cs typeface="Calibri"/>
                <a:sym typeface="Calibri"/>
              </a:rPr>
              <a:t>Kết quả sau optimization:  </a:t>
            </a:r>
            <a:r>
              <a:rPr b="0" i="0" lang="en-US" sz="1100" u="none" cap="none" strike="noStrike">
                <a:solidFill>
                  <a:srgbClr val="1E293B"/>
                </a:solidFill>
                <a:latin typeface="Calibri"/>
                <a:ea typeface="Calibri"/>
                <a:cs typeface="Calibri"/>
                <a:sym typeface="Calibri"/>
              </a:rPr>
              <a:t>MVP $426 → ~$280/tháng (−34%)  </a:t>
            </a:r>
            <a:r>
              <a:rPr b="0" i="0" lang="en-US" sz="1100" u="none" cap="none" strike="noStrike">
                <a:solidFill>
                  <a:srgbClr val="64748B"/>
                </a:solidFill>
                <a:latin typeface="Calibri"/>
                <a:ea typeface="Calibri"/>
                <a:cs typeface="Calibri"/>
                <a:sym typeface="Calibri"/>
              </a:rPr>
              <a:t>·  </a:t>
            </a:r>
            <a:r>
              <a:rPr b="0" i="0" lang="en-US" sz="1100" u="none" cap="none" strike="noStrike">
                <a:solidFill>
                  <a:srgbClr val="1E293B"/>
                </a:solidFill>
                <a:latin typeface="Calibri"/>
                <a:ea typeface="Calibri"/>
                <a:cs typeface="Calibri"/>
                <a:sym typeface="Calibri"/>
              </a:rPr>
              <a:t>Growth $1.660 → ~$1.050/tháng (−37%)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9FC"/>
        </a:solidFill>
      </p:bgPr>
    </p:bg>
    <p:spTree>
      <p:nvGrpSpPr>
        <p:cNvPr id="172" name="Shape 172"/>
        <p:cNvGrpSpPr/>
        <p:nvPr/>
      </p:nvGrpSpPr>
      <p:grpSpPr>
        <a:xfrm>
          <a:off x="0" y="0"/>
          <a:ext cx="0" cy="0"/>
          <a:chOff x="0" y="0"/>
          <a:chExt cx="0" cy="0"/>
        </a:xfrm>
      </p:grpSpPr>
      <p:sp>
        <p:nvSpPr>
          <p:cNvPr id="173" name="Google Shape;173;p8"/>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06 / 07</a:t>
            </a:r>
            <a:endParaRPr b="0" i="0" sz="800" u="none" cap="none" strike="noStrike">
              <a:solidFill>
                <a:schemeClr val="dk1"/>
              </a:solidFill>
              <a:latin typeface="Calibri"/>
              <a:ea typeface="Calibri"/>
              <a:cs typeface="Calibri"/>
              <a:sym typeface="Calibri"/>
            </a:endParaRPr>
          </a:p>
        </p:txBody>
      </p:sp>
      <p:sp>
        <p:nvSpPr>
          <p:cNvPr id="174" name="Google Shape;174;p8"/>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2300"/>
              <a:buFont typeface="Trebuchet MS"/>
              <a:buNone/>
            </a:pPr>
            <a:r>
              <a:rPr b="1" i="0" lang="en-US" sz="2300" u="none" cap="none" strike="noStrike">
                <a:solidFill>
                  <a:srgbClr val="05445E"/>
                </a:solidFill>
                <a:latin typeface="Trebuchet MS"/>
                <a:ea typeface="Trebuchet MS"/>
                <a:cs typeface="Trebuchet MS"/>
                <a:sym typeface="Trebuchet MS"/>
              </a:rPr>
              <a:t>Reliability &amp; Scaling Plan</a:t>
            </a:r>
            <a:endParaRPr b="0" i="0" sz="2300" u="none" cap="none" strike="noStrike">
              <a:solidFill>
                <a:schemeClr val="dk1"/>
              </a:solidFill>
              <a:latin typeface="Calibri"/>
              <a:ea typeface="Calibri"/>
              <a:cs typeface="Calibri"/>
              <a:sym typeface="Calibri"/>
            </a:endParaRPr>
          </a:p>
        </p:txBody>
      </p:sp>
      <p:graphicFrame>
        <p:nvGraphicFramePr>
          <p:cNvPr id="175" name="Google Shape;175;p8"/>
          <p:cNvGraphicFramePr/>
          <p:nvPr/>
        </p:nvGraphicFramePr>
        <p:xfrm>
          <a:off x="457200" y="822960"/>
          <a:ext cx="3000000" cy="3000000"/>
        </p:xfrm>
        <a:graphic>
          <a:graphicData uri="http://schemas.openxmlformats.org/drawingml/2006/table">
            <a:tbl>
              <a:tblPr>
                <a:noFill/>
                <a:tableStyleId>{399EC199-536A-428B-9BDC-CC155C7E13A1}</a:tableStyleId>
              </a:tblPr>
              <a:tblGrid>
                <a:gridCol w="2286000"/>
                <a:gridCol w="2011675"/>
                <a:gridCol w="3931925"/>
              </a:tblGrid>
              <a:tr h="5029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Tình huống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Tác động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Fallback Strategy</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05445E"/>
                    </a:solidFill>
                  </a:tcPr>
                </a:tc>
              </a:tr>
              <a:tr h="502925">
                <a:tc>
                  <a:txBody>
                    <a:bodyPr/>
                    <a:lstStyle/>
                    <a:p>
                      <a:pPr indent="0" lvl="0" marL="0" marR="0" rtl="0" algn="l">
                        <a:spcBef>
                          <a:spcPts val="0"/>
                        </a:spcBef>
                        <a:spcAft>
                          <a:spcPts val="0"/>
                        </a:spcAft>
                        <a:buClr>
                          <a:srgbClr val="DC2626"/>
                        </a:buClr>
                        <a:buSzPts val="1000"/>
                        <a:buFont typeface="Calibri"/>
                        <a:buNone/>
                      </a:pPr>
                      <a:r>
                        <a:rPr b="1" lang="en-US" sz="1000" u="none" cap="none" strike="noStrike">
                          <a:solidFill>
                            <a:srgbClr val="DC2626"/>
                          </a:solidFill>
                          <a:latin typeface="Calibri"/>
                          <a:ea typeface="Calibri"/>
                          <a:cs typeface="Calibri"/>
                          <a:sym typeface="Calibri"/>
                        </a:rPr>
                        <a:t>LLM provider down</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Agent không trả lời</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GPT-4o-mini → Ollama 7B on-prem → Keyword search thuần</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502925">
                <a:tc>
                  <a:txBody>
                    <a:bodyPr/>
                    <a:lstStyle/>
                    <a:p>
                      <a:pPr indent="0" lvl="0" marL="0" marR="0" rtl="0" algn="l">
                        <a:spcBef>
                          <a:spcPts val="0"/>
                        </a:spcBef>
                        <a:spcAft>
                          <a:spcPts val="0"/>
                        </a:spcAft>
                        <a:buClr>
                          <a:srgbClr val="D97706"/>
                        </a:buClr>
                        <a:buSzPts val="1000"/>
                        <a:buFont typeface="Calibri"/>
                        <a:buNone/>
                      </a:pPr>
                      <a:r>
                        <a:rPr b="1" lang="en-US" sz="1000" u="none" cap="none" strike="noStrike">
                          <a:solidFill>
                            <a:srgbClr val="D97706"/>
                          </a:solidFill>
                          <a:latin typeface="Calibri"/>
                          <a:ea typeface="Calibri"/>
                          <a:cs typeface="Calibri"/>
                          <a:sym typeface="Calibri"/>
                        </a:rPr>
                        <a:t>Traffic đột biến (mùa dịch)</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Response chậm, timeout</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Queue + async; ưu tiên bác sĩ trực; tắt tính năng nặng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502925">
                <a:tc>
                  <a:txBody>
                    <a:bodyPr/>
                    <a:lstStyle/>
                    <a:p>
                      <a:pPr indent="0" lvl="0" marL="0" marR="0" rtl="0" algn="l">
                        <a:spcBef>
                          <a:spcPts val="0"/>
                        </a:spcBef>
                        <a:spcAft>
                          <a:spcPts val="0"/>
                        </a:spcAft>
                        <a:buClr>
                          <a:srgbClr val="DC2626"/>
                        </a:buClr>
                        <a:buSzPts val="1000"/>
                        <a:buFont typeface="Calibri"/>
                        <a:buNone/>
                      </a:pPr>
                      <a:r>
                        <a:rPr b="1" lang="en-US" sz="1000" u="none" cap="none" strike="noStrike">
                          <a:solidFill>
                            <a:srgbClr val="DC2626"/>
                          </a:solidFill>
                          <a:latin typeface="Calibri"/>
                          <a:ea typeface="Calibri"/>
                          <a:cs typeface="Calibri"/>
                          <a:sym typeface="Calibri"/>
                        </a:rPr>
                        <a:t>Hallucination lâm sàng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Bác sĩ nhận thông tin sai</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Human review gate + confidence threshold + disclaimer rõ ràng</a:t>
                      </a:r>
                      <a:endParaRPr sz="1000" u="none" cap="none" strike="noStrike">
                        <a:latin typeface="Calibri"/>
                        <a:ea typeface="Calibri"/>
                        <a:cs typeface="Calibri"/>
                        <a:sym typeface="Calibri"/>
                      </a:endParaRPr>
                    </a:p>
                  </a:txBody>
                  <a:tcPr marT="45725" marB="45725" marR="91450" marL="9145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176" name="Google Shape;176;p8"/>
          <p:cNvSpPr/>
          <p:nvPr/>
        </p:nvSpPr>
        <p:spPr>
          <a:xfrm>
            <a:off x="457200" y="30175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1000"/>
              <a:buFont typeface="Trebuchet MS"/>
              <a:buNone/>
            </a:pPr>
            <a:r>
              <a:rPr b="1" i="0" lang="en-US" sz="1000" u="none" cap="none" strike="noStrike">
                <a:solidFill>
                  <a:srgbClr val="05445E"/>
                </a:solidFill>
                <a:latin typeface="Trebuchet MS"/>
                <a:ea typeface="Trebuchet MS"/>
                <a:cs typeface="Trebuchet MS"/>
                <a:sym typeface="Trebuchet MS"/>
              </a:rPr>
              <a:t>Fallback Architecture:</a:t>
            </a:r>
            <a:endParaRPr b="0" i="0" sz="1000" u="none" cap="none" strike="noStrike">
              <a:solidFill>
                <a:schemeClr val="dk1"/>
              </a:solidFill>
              <a:latin typeface="Calibri"/>
              <a:ea typeface="Calibri"/>
              <a:cs typeface="Calibri"/>
              <a:sym typeface="Calibri"/>
            </a:endParaRPr>
          </a:p>
        </p:txBody>
      </p:sp>
      <p:sp>
        <p:nvSpPr>
          <p:cNvPr id="177" name="Google Shape;177;p8"/>
          <p:cNvSpPr/>
          <p:nvPr/>
        </p:nvSpPr>
        <p:spPr>
          <a:xfrm>
            <a:off x="457200" y="3383280"/>
            <a:ext cx="1920240" cy="50292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457200" y="338328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Claude / GPT-4o</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(Primary LLM)</a:t>
            </a:r>
            <a:endParaRPr b="0" i="0" sz="900" u="none" cap="none" strike="noStrike">
              <a:solidFill>
                <a:schemeClr val="dk1"/>
              </a:solidFill>
              <a:latin typeface="Calibri"/>
              <a:ea typeface="Calibri"/>
              <a:cs typeface="Calibri"/>
              <a:sym typeface="Calibri"/>
            </a:endParaRPr>
          </a:p>
        </p:txBody>
      </p:sp>
      <p:cxnSp>
        <p:nvCxnSpPr>
          <p:cNvPr id="179" name="Google Shape;179;p8"/>
          <p:cNvCxnSpPr/>
          <p:nvPr/>
        </p:nvCxnSpPr>
        <p:spPr>
          <a:xfrm>
            <a:off x="2377440" y="3634740"/>
            <a:ext cx="228600" cy="0"/>
          </a:xfrm>
          <a:prstGeom prst="straightConnector1">
            <a:avLst/>
          </a:prstGeom>
          <a:noFill/>
          <a:ln cap="flat" cmpd="sng" w="19050">
            <a:solidFill>
              <a:srgbClr val="64748B"/>
            </a:solidFill>
            <a:prstDash val="solid"/>
            <a:round/>
            <a:headEnd len="sm" w="sm" type="none"/>
            <a:tailEnd len="sm" w="sm" type="none"/>
          </a:ln>
        </p:spPr>
      </p:cxnSp>
      <p:sp>
        <p:nvSpPr>
          <p:cNvPr id="180" name="Google Shape;180;p8"/>
          <p:cNvSpPr/>
          <p:nvPr/>
        </p:nvSpPr>
        <p:spPr>
          <a:xfrm>
            <a:off x="2606040" y="3383280"/>
            <a:ext cx="1920240" cy="50292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2606040" y="338328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Azure OpenAI</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 Anthropic</a:t>
            </a:r>
            <a:endParaRPr b="0" i="0" sz="900" u="none" cap="none" strike="noStrike">
              <a:solidFill>
                <a:schemeClr val="dk1"/>
              </a:solidFill>
              <a:latin typeface="Calibri"/>
              <a:ea typeface="Calibri"/>
              <a:cs typeface="Calibri"/>
              <a:sym typeface="Calibri"/>
            </a:endParaRPr>
          </a:p>
        </p:txBody>
      </p:sp>
      <p:cxnSp>
        <p:nvCxnSpPr>
          <p:cNvPr id="182" name="Google Shape;182;p8"/>
          <p:cNvCxnSpPr/>
          <p:nvPr/>
        </p:nvCxnSpPr>
        <p:spPr>
          <a:xfrm>
            <a:off x="4526280" y="3634740"/>
            <a:ext cx="228600" cy="0"/>
          </a:xfrm>
          <a:prstGeom prst="straightConnector1">
            <a:avLst/>
          </a:prstGeom>
          <a:noFill/>
          <a:ln cap="flat" cmpd="sng" w="19050">
            <a:solidFill>
              <a:srgbClr val="64748B"/>
            </a:solidFill>
            <a:prstDash val="solid"/>
            <a:round/>
            <a:headEnd len="sm" w="sm" type="none"/>
            <a:tailEnd len="sm" w="sm" type="none"/>
          </a:ln>
        </p:spPr>
      </p:cxnSp>
      <p:sp>
        <p:nvSpPr>
          <p:cNvPr id="183" name="Google Shape;183;p8"/>
          <p:cNvSpPr/>
          <p:nvPr/>
        </p:nvSpPr>
        <p:spPr>
          <a:xfrm>
            <a:off x="4754880" y="3383280"/>
            <a:ext cx="1920240" cy="50292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4754880" y="338328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Llama3 / Mistral</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(Self-hosted on-prem)</a:t>
            </a:r>
            <a:endParaRPr b="0" i="0" sz="900" u="none" cap="none" strike="noStrike">
              <a:solidFill>
                <a:schemeClr val="dk1"/>
              </a:solidFill>
              <a:latin typeface="Calibri"/>
              <a:ea typeface="Calibri"/>
              <a:cs typeface="Calibri"/>
              <a:sym typeface="Calibri"/>
            </a:endParaRPr>
          </a:p>
        </p:txBody>
      </p:sp>
      <p:cxnSp>
        <p:nvCxnSpPr>
          <p:cNvPr id="185" name="Google Shape;185;p8"/>
          <p:cNvCxnSpPr/>
          <p:nvPr/>
        </p:nvCxnSpPr>
        <p:spPr>
          <a:xfrm>
            <a:off x="6675120" y="3634740"/>
            <a:ext cx="228600" cy="0"/>
          </a:xfrm>
          <a:prstGeom prst="straightConnector1">
            <a:avLst/>
          </a:prstGeom>
          <a:noFill/>
          <a:ln cap="flat" cmpd="sng" w="19050">
            <a:solidFill>
              <a:srgbClr val="64748B"/>
            </a:solidFill>
            <a:prstDash val="solid"/>
            <a:round/>
            <a:headEnd len="sm" w="sm" type="none"/>
            <a:tailEnd len="sm" w="sm" type="none"/>
          </a:ln>
        </p:spPr>
      </p:cxnSp>
      <p:sp>
        <p:nvSpPr>
          <p:cNvPr id="186" name="Google Shape;186;p8"/>
          <p:cNvSpPr/>
          <p:nvPr/>
        </p:nvSpPr>
        <p:spPr>
          <a:xfrm>
            <a:off x="6903720" y="3383280"/>
            <a:ext cx="1920240" cy="50292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6903720" y="338328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Keyword Search</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 Cảnh báo</a:t>
            </a:r>
            <a:endParaRPr b="0" i="0" sz="900" u="none" cap="none" strike="noStrike">
              <a:solidFill>
                <a:schemeClr val="dk1"/>
              </a:solidFill>
              <a:latin typeface="Calibri"/>
              <a:ea typeface="Calibri"/>
              <a:cs typeface="Calibri"/>
              <a:sym typeface="Calibri"/>
            </a:endParaRPr>
          </a:p>
        </p:txBody>
      </p:sp>
      <p:sp>
        <p:nvSpPr>
          <p:cNvPr id="188" name="Google Shape;188;p8"/>
          <p:cNvSpPr/>
          <p:nvPr/>
        </p:nvSpPr>
        <p:spPr>
          <a:xfrm>
            <a:off x="2139696" y="3218688"/>
            <a:ext cx="11887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timeout × 3</a:t>
            </a:r>
            <a:endParaRPr b="0" i="0" sz="750" u="none" cap="none" strike="noStrike">
              <a:solidFill>
                <a:schemeClr val="dk1"/>
              </a:solidFill>
              <a:latin typeface="Calibri"/>
              <a:ea typeface="Calibri"/>
              <a:cs typeface="Calibri"/>
              <a:sym typeface="Calibri"/>
            </a:endParaRPr>
          </a:p>
        </p:txBody>
      </p:sp>
      <p:sp>
        <p:nvSpPr>
          <p:cNvPr id="189" name="Google Shape;189;p8"/>
          <p:cNvSpPr/>
          <p:nvPr/>
        </p:nvSpPr>
        <p:spPr>
          <a:xfrm>
            <a:off x="4297680" y="3218688"/>
            <a:ext cx="11887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circuit breaker</a:t>
            </a:r>
            <a:endParaRPr b="0" i="0" sz="750" u="none" cap="none" strike="noStrike">
              <a:solidFill>
                <a:schemeClr val="dk1"/>
              </a:solidFill>
              <a:latin typeface="Calibri"/>
              <a:ea typeface="Calibri"/>
              <a:cs typeface="Calibri"/>
              <a:sym typeface="Calibri"/>
            </a:endParaRPr>
          </a:p>
        </p:txBody>
      </p:sp>
      <p:sp>
        <p:nvSpPr>
          <p:cNvPr id="190" name="Google Shape;190;p8"/>
          <p:cNvSpPr/>
          <p:nvPr/>
        </p:nvSpPr>
        <p:spPr>
          <a:xfrm>
            <a:off x="457200" y="3950208"/>
            <a:ext cx="8229600" cy="237744"/>
          </a:xfrm>
          <a:prstGeom prst="rect">
            <a:avLst/>
          </a:prstGeom>
          <a:solidFill>
            <a:srgbClr val="E0F7F4"/>
          </a:solidFill>
          <a:ln cap="flat" cmpd="sng" w="12700">
            <a:solidFill>
              <a:srgbClr val="00A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94360" y="3950208"/>
            <a:ext cx="7955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800"/>
              <a:buFont typeface="Calibri"/>
              <a:buNone/>
            </a:pPr>
            <a:r>
              <a:rPr b="0" i="1" lang="en-US" sz="800" u="none" cap="none" strike="noStrike">
                <a:solidFill>
                  <a:srgbClr val="028090"/>
                </a:solidFill>
                <a:latin typeface="Calibri"/>
                <a:ea typeface="Calibri"/>
                <a:cs typeface="Calibri"/>
                <a:sym typeface="Calibri"/>
              </a:rPr>
              <a:t>NeMo Guardrails: PHI filter · uncertainty score detection · citation bắt buộc từng câu · block hallucination lâm sàng</a:t>
            </a:r>
            <a:endParaRPr b="0" i="0" sz="800" u="none" cap="none" strike="noStrike">
              <a:solidFill>
                <a:schemeClr val="dk1"/>
              </a:solidFill>
              <a:latin typeface="Calibri"/>
              <a:ea typeface="Calibri"/>
              <a:cs typeface="Calibri"/>
              <a:sym typeface="Calibri"/>
            </a:endParaRPr>
          </a:p>
        </p:txBody>
      </p:sp>
      <p:sp>
        <p:nvSpPr>
          <p:cNvPr id="192" name="Google Shape;192;p8"/>
          <p:cNvSpPr/>
          <p:nvPr/>
        </p:nvSpPr>
        <p:spPr>
          <a:xfrm>
            <a:off x="457200" y="42428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445E"/>
              </a:buClr>
              <a:buSzPts val="1000"/>
              <a:buFont typeface="Trebuchet MS"/>
              <a:buNone/>
            </a:pPr>
            <a:r>
              <a:rPr b="1" i="0" lang="en-US" sz="1000" u="none" cap="none" strike="noStrike">
                <a:solidFill>
                  <a:srgbClr val="05445E"/>
                </a:solidFill>
                <a:latin typeface="Trebuchet MS"/>
                <a:ea typeface="Trebuchet MS"/>
                <a:cs typeface="Trebuchet MS"/>
                <a:sym typeface="Trebuchet MS"/>
              </a:rPr>
              <a:t>Key Metrics (SLA nội bộ):</a:t>
            </a:r>
            <a:endParaRPr b="0" i="0" sz="1000" u="none" cap="none" strike="noStrike">
              <a:solidFill>
                <a:schemeClr val="dk1"/>
              </a:solidFill>
              <a:latin typeface="Calibri"/>
              <a:ea typeface="Calibri"/>
              <a:cs typeface="Calibri"/>
              <a:sym typeface="Calibri"/>
            </a:endParaRPr>
          </a:p>
        </p:txBody>
      </p:sp>
      <p:sp>
        <p:nvSpPr>
          <p:cNvPr id="193" name="Google Shape;193;p8"/>
          <p:cNvSpPr/>
          <p:nvPr/>
        </p:nvSpPr>
        <p:spPr>
          <a:xfrm>
            <a:off x="457200" y="4553712"/>
            <a:ext cx="2011680" cy="475488"/>
          </a:xfrm>
          <a:prstGeom prst="rect">
            <a:avLst/>
          </a:prstGeom>
          <a:solidFill>
            <a:srgbClr val="E0F7F4"/>
          </a:solidFill>
          <a:ln cap="flat" cmpd="sng" w="12700">
            <a:solidFill>
              <a:srgbClr val="00A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548640" y="4553712"/>
            <a:ext cx="1828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p95 latency &lt; 3s</a:t>
            </a:r>
            <a:endParaRPr b="0" i="0" sz="1000" u="none" cap="none" strike="noStrike">
              <a:solidFill>
                <a:schemeClr val="dk1"/>
              </a:solidFill>
              <a:latin typeface="Calibri"/>
              <a:ea typeface="Calibri"/>
              <a:cs typeface="Calibri"/>
              <a:sym typeface="Calibri"/>
            </a:endParaRPr>
          </a:p>
        </p:txBody>
      </p:sp>
      <p:sp>
        <p:nvSpPr>
          <p:cNvPr id="195" name="Google Shape;195;p8"/>
          <p:cNvSpPr/>
          <p:nvPr/>
        </p:nvSpPr>
        <p:spPr>
          <a:xfrm>
            <a:off x="2606040" y="4553712"/>
            <a:ext cx="2011680" cy="475488"/>
          </a:xfrm>
          <a:prstGeom prst="rect">
            <a:avLst/>
          </a:prstGeom>
          <a:solidFill>
            <a:srgbClr val="E0F7F4"/>
          </a:solidFill>
          <a:ln cap="flat" cmpd="sng" w="12700">
            <a:solidFill>
              <a:srgbClr val="00A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2697480" y="4553712"/>
            <a:ext cx="1828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Error rate &lt; 1%</a:t>
            </a:r>
            <a:endParaRPr b="0" i="0" sz="1000" u="none" cap="none" strike="noStrike">
              <a:solidFill>
                <a:schemeClr val="dk1"/>
              </a:solidFill>
              <a:latin typeface="Calibri"/>
              <a:ea typeface="Calibri"/>
              <a:cs typeface="Calibri"/>
              <a:sym typeface="Calibri"/>
            </a:endParaRPr>
          </a:p>
        </p:txBody>
      </p:sp>
      <p:sp>
        <p:nvSpPr>
          <p:cNvPr id="197" name="Google Shape;197;p8"/>
          <p:cNvSpPr/>
          <p:nvPr/>
        </p:nvSpPr>
        <p:spPr>
          <a:xfrm>
            <a:off x="4754880" y="4553712"/>
            <a:ext cx="2011680" cy="475488"/>
          </a:xfrm>
          <a:prstGeom prst="rect">
            <a:avLst/>
          </a:prstGeom>
          <a:solidFill>
            <a:srgbClr val="E0F7F4"/>
          </a:solidFill>
          <a:ln cap="flat" cmpd="sng" w="12700">
            <a:solidFill>
              <a:srgbClr val="00A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4846320" y="4553712"/>
            <a:ext cx="1828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000"/>
              <a:buFont typeface="Calibri"/>
              <a:buNone/>
            </a:pPr>
            <a:r>
              <a:rPr b="1" i="0" lang="en-US" sz="1000" u="none" cap="none" strike="noStrike">
                <a:solidFill>
                  <a:srgbClr val="028090"/>
                </a:solidFill>
                <a:latin typeface="Calibri"/>
                <a:ea typeface="Calibri"/>
                <a:cs typeface="Calibri"/>
                <a:sym typeface="Calibri"/>
              </a:rPr>
              <a:t>Human review queue &lt; 50 items</a:t>
            </a:r>
            <a:endParaRPr b="0" i="0" sz="1000" u="none" cap="none" strike="noStrike">
              <a:solidFill>
                <a:schemeClr val="dk1"/>
              </a:solidFill>
              <a:latin typeface="Calibri"/>
              <a:ea typeface="Calibri"/>
              <a:cs typeface="Calibri"/>
              <a:sym typeface="Calibri"/>
            </a:endParaRPr>
          </a:p>
        </p:txBody>
      </p:sp>
      <p:sp>
        <p:nvSpPr>
          <p:cNvPr id="199" name="Google Shape;199;p8"/>
          <p:cNvSpPr/>
          <p:nvPr/>
        </p:nvSpPr>
        <p:spPr>
          <a:xfrm>
            <a:off x="6903720" y="4553712"/>
            <a:ext cx="2011680" cy="475488"/>
          </a:xfrm>
          <a:prstGeom prst="rect">
            <a:avLst/>
          </a:prstGeom>
          <a:solidFill>
            <a:srgbClr val="E0F7F4"/>
          </a:solidFill>
          <a:ln cap="flat" cmpd="sng" w="12700">
            <a:solidFill>
              <a:srgbClr val="00A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6995160" y="4553712"/>
            <a:ext cx="1828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000"/>
              <a:buFont typeface="Calibri"/>
              <a:buNone/>
            </a:pPr>
            <a:r>
              <a:rPr b="1" i="0" lang="en-US" sz="1000" u="none" cap="none" strike="noStrike">
                <a:solidFill>
                  <a:srgbClr val="028090"/>
                </a:solidFill>
                <a:latin typeface="Calibri"/>
                <a:ea typeface="Calibri"/>
                <a:cs typeface="Calibri"/>
                <a:sym typeface="Calibri"/>
              </a:rPr>
              <a:t>Uptime &gt; 99.5%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445E"/>
        </a:solidFill>
      </p:bgPr>
    </p:bg>
    <p:spTree>
      <p:nvGrpSpPr>
        <p:cNvPr id="205" name="Shape 205"/>
        <p:cNvGrpSpPr/>
        <p:nvPr/>
      </p:nvGrpSpPr>
      <p:grpSpPr>
        <a:xfrm>
          <a:off x="0" y="0"/>
          <a:ext cx="0" cy="0"/>
          <a:chOff x="0" y="0"/>
          <a:chExt cx="0" cy="0"/>
        </a:xfrm>
      </p:grpSpPr>
      <p:sp>
        <p:nvSpPr>
          <p:cNvPr id="206" name="Google Shape;206;p9"/>
          <p:cNvSpPr/>
          <p:nvPr/>
        </p:nvSpPr>
        <p:spPr>
          <a:xfrm>
            <a:off x="7132320" y="-1280160"/>
            <a:ext cx="4572000" cy="4572000"/>
          </a:xfrm>
          <a:prstGeom prst="ellipse">
            <a:avLst/>
          </a:prstGeom>
          <a:solidFill>
            <a:srgbClr val="028090">
              <a:alpha val="20000"/>
            </a:srgbClr>
          </a:solidFill>
          <a:ln cap="flat" cmpd="sng" w="12700">
            <a:solidFill>
              <a:srgbClr val="02809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57200" y="3291840"/>
            <a:ext cx="2286000" cy="2286000"/>
          </a:xfrm>
          <a:prstGeom prst="ellipse">
            <a:avLst/>
          </a:prstGeom>
          <a:solidFill>
            <a:srgbClr val="00A896">
              <a:alpha val="16078"/>
            </a:srgbClr>
          </a:solidFill>
          <a:ln cap="flat" cmpd="sng" w="12700">
            <a:solidFill>
              <a:srgbClr val="00A896">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8138160" y="164592"/>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07 / 07</a:t>
            </a:r>
            <a:endParaRPr b="0" i="0" sz="800" u="none" cap="none" strike="noStrike">
              <a:solidFill>
                <a:schemeClr val="dk1"/>
              </a:solidFill>
              <a:latin typeface="Calibri"/>
              <a:ea typeface="Calibri"/>
              <a:cs typeface="Calibri"/>
              <a:sym typeface="Calibri"/>
            </a:endParaRPr>
          </a:p>
        </p:txBody>
      </p:sp>
      <p:sp>
        <p:nvSpPr>
          <p:cNvPr id="209" name="Google Shape;209;p9"/>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Trebuchet MS"/>
              <a:buNone/>
            </a:pPr>
            <a:r>
              <a:rPr b="1" i="0" lang="en-US" sz="2300" u="none" cap="none" strike="noStrike">
                <a:solidFill>
                  <a:srgbClr val="FFFFFF"/>
                </a:solidFill>
                <a:latin typeface="Trebuchet MS"/>
                <a:ea typeface="Trebuchet MS"/>
                <a:cs typeface="Trebuchet MS"/>
                <a:sym typeface="Trebuchet MS"/>
              </a:rPr>
              <a:t>Track Phase 2 &amp; Next Steps</a:t>
            </a:r>
            <a:endParaRPr b="0" i="0" sz="2300" u="none" cap="none" strike="noStrike">
              <a:solidFill>
                <a:schemeClr val="dk1"/>
              </a:solidFill>
              <a:latin typeface="Calibri"/>
              <a:ea typeface="Calibri"/>
              <a:cs typeface="Calibri"/>
              <a:sym typeface="Calibri"/>
            </a:endParaRPr>
          </a:p>
        </p:txBody>
      </p:sp>
      <p:sp>
        <p:nvSpPr>
          <p:cNvPr id="210" name="Google Shape;210;p9"/>
          <p:cNvSpPr/>
          <p:nvPr/>
        </p:nvSpPr>
        <p:spPr>
          <a:xfrm>
            <a:off x="457200" y="822960"/>
            <a:ext cx="3291840" cy="43891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457200" y="822960"/>
            <a:ext cx="32918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AI Engineering Track (đề xuất)</a:t>
            </a:r>
            <a:endParaRPr b="0" i="0" sz="1200" u="none" cap="none" strike="noStrike">
              <a:solidFill>
                <a:schemeClr val="dk1"/>
              </a:solidFill>
              <a:latin typeface="Calibri"/>
              <a:ea typeface="Calibri"/>
              <a:cs typeface="Calibri"/>
              <a:sym typeface="Calibri"/>
            </a:endParaRPr>
          </a:p>
        </p:txBody>
      </p:sp>
      <p:sp>
        <p:nvSpPr>
          <p:cNvPr id="212" name="Google Shape;212;p9"/>
          <p:cNvSpPr/>
          <p:nvPr/>
        </p:nvSpPr>
        <p:spPr>
          <a:xfrm>
            <a:off x="3840480" y="896112"/>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000"/>
              <a:buFont typeface="Calibri"/>
              <a:buNone/>
            </a:pPr>
            <a:r>
              <a:rPr b="0" i="1" lang="en-US" sz="1000" u="none" cap="none" strike="noStrike">
                <a:solidFill>
                  <a:srgbClr val="A8D8EA"/>
                </a:solidFill>
                <a:latin typeface="Calibri"/>
                <a:ea typeface="Calibri"/>
                <a:cs typeface="Calibri"/>
                <a:sym typeface="Calibri"/>
              </a:rPr>
              <a:t>Nhóm mạnh nhất ở RAG · evaluation · agent design — phù hợp với track này</a:t>
            </a:r>
            <a:endParaRPr b="0" i="0" sz="1000" u="none" cap="none" strike="noStrike">
              <a:solidFill>
                <a:schemeClr val="dk1"/>
              </a:solidFill>
              <a:latin typeface="Calibri"/>
              <a:ea typeface="Calibri"/>
              <a:cs typeface="Calibri"/>
              <a:sym typeface="Calibri"/>
            </a:endParaRPr>
          </a:p>
        </p:txBody>
      </p:sp>
      <p:graphicFrame>
        <p:nvGraphicFramePr>
          <p:cNvPr id="213" name="Google Shape;213;p9"/>
          <p:cNvGraphicFramePr/>
          <p:nvPr/>
        </p:nvGraphicFramePr>
        <p:xfrm>
          <a:off x="457200" y="1389888"/>
          <a:ext cx="3000000" cy="3000000"/>
        </p:xfrm>
        <a:graphic>
          <a:graphicData uri="http://schemas.openxmlformats.org/drawingml/2006/table">
            <a:tbl>
              <a:tblPr>
                <a:noFill/>
                <a:tableStyleId>{399EC199-536A-428B-9BDC-CC155C7E13A1}</a:tableStyleId>
              </a:tblPr>
              <a:tblGrid>
                <a:gridCol w="1097275"/>
                <a:gridCol w="5303525"/>
                <a:gridCol w="1828800"/>
              </a:tblGrid>
              <a:tr h="384050">
                <a:tc>
                  <a:txBody>
                    <a:bodyPr/>
                    <a:lstStyle/>
                    <a:p>
                      <a:pPr indent="0" lvl="0" marL="0" marR="0" rtl="0" algn="l">
                        <a:spcBef>
                          <a:spcPts val="0"/>
                        </a:spcBef>
                        <a:spcAft>
                          <a:spcPts val="0"/>
                        </a:spcAft>
                        <a:buClr>
                          <a:srgbClr val="05445E"/>
                        </a:buClr>
                        <a:buSzPts val="1000"/>
                        <a:buFont typeface="Calibri"/>
                        <a:buNone/>
                      </a:pPr>
                      <a:r>
                        <a:rPr b="1" lang="en-US" sz="1000" u="none" cap="none" strike="noStrike">
                          <a:solidFill>
                            <a:srgbClr val="05445E"/>
                          </a:solidFill>
                          <a:latin typeface="Calibri"/>
                          <a:ea typeface="Calibri"/>
                          <a:cs typeface="Calibri"/>
                          <a:sym typeface="Calibri"/>
                        </a:rPr>
                        <a:t>Sprint</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0A896"/>
                    </a:solidFill>
                  </a:tcPr>
                </a:tc>
                <a:tc>
                  <a:txBody>
                    <a:bodyPr/>
                    <a:lstStyle/>
                    <a:p>
                      <a:pPr indent="0" lvl="0" marL="0" marR="0" rtl="0" algn="l">
                        <a:spcBef>
                          <a:spcPts val="0"/>
                        </a:spcBef>
                        <a:spcAft>
                          <a:spcPts val="0"/>
                        </a:spcAft>
                        <a:buClr>
                          <a:srgbClr val="05445E"/>
                        </a:buClr>
                        <a:buSzPts val="1000"/>
                        <a:buFont typeface="Calibri"/>
                        <a:buNone/>
                      </a:pPr>
                      <a:r>
                        <a:rPr b="1" lang="en-US" sz="1000" u="none" cap="none" strike="noStrike">
                          <a:solidFill>
                            <a:srgbClr val="05445E"/>
                          </a:solidFill>
                          <a:latin typeface="Calibri"/>
                          <a:ea typeface="Calibri"/>
                          <a:cs typeface="Calibri"/>
                          <a:sym typeface="Calibri"/>
                        </a:rPr>
                        <a:t>Mục tiêu</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0A896"/>
                    </a:solidFill>
                  </a:tcPr>
                </a:tc>
                <a:tc>
                  <a:txBody>
                    <a:bodyPr/>
                    <a:lstStyle/>
                    <a:p>
                      <a:pPr indent="0" lvl="0" marL="0" marR="0" rtl="0" algn="ctr">
                        <a:spcBef>
                          <a:spcPts val="0"/>
                        </a:spcBef>
                        <a:spcAft>
                          <a:spcPts val="0"/>
                        </a:spcAft>
                        <a:buClr>
                          <a:srgbClr val="05445E"/>
                        </a:buClr>
                        <a:buSzPts val="1000"/>
                        <a:buFont typeface="Calibri"/>
                        <a:buNone/>
                      </a:pPr>
                      <a:r>
                        <a:rPr b="1" lang="en-US" sz="1000" u="none" cap="none" strike="noStrike">
                          <a:solidFill>
                            <a:srgbClr val="05445E"/>
                          </a:solidFill>
                          <a:latin typeface="Calibri"/>
                          <a:ea typeface="Calibri"/>
                          <a:cs typeface="Calibri"/>
                          <a:sym typeface="Calibri"/>
                        </a:rPr>
                        <a:t>Timeline</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0A896"/>
                    </a:solidFill>
                  </a:tcPr>
                </a:tc>
              </a:tr>
              <a:tr h="384050">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Sprint 1</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Production-ready RAG với streaming + semantic caching</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ctr">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Tuần 1–2</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r>
              <a:tr h="384050">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Sprint 2</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Monitoring dashboard + hallucination detection pipeline</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ctr">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Tuần 3–4</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r>
              <a:tr h="384050">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Sprint 3</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HIS/EMR integration prototype — HL7 FHIR standard</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ctr">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Tuần 5–6</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r>
              <a:tr h="384050">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Sprint 4</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l">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Load testing + cost optimization validation</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c>
                  <a:txBody>
                    <a:bodyPr/>
                    <a:lstStyle/>
                    <a:p>
                      <a:pPr indent="0" lvl="0" marL="0" marR="0" rtl="0" algn="ctr">
                        <a:spcBef>
                          <a:spcPts val="0"/>
                        </a:spcBef>
                        <a:spcAft>
                          <a:spcPts val="0"/>
                        </a:spcAft>
                        <a:buClr>
                          <a:srgbClr val="FFFFFF"/>
                        </a:buClr>
                        <a:buSzPts val="1000"/>
                        <a:buFont typeface="Calibri"/>
                        <a:buNone/>
                      </a:pPr>
                      <a:r>
                        <a:rPr lang="en-US" sz="1000" u="none" cap="none" strike="noStrike">
                          <a:solidFill>
                            <a:srgbClr val="FFFFFF"/>
                          </a:solidFill>
                          <a:latin typeface="Calibri"/>
                          <a:ea typeface="Calibri"/>
                          <a:cs typeface="Calibri"/>
                          <a:sym typeface="Calibri"/>
                        </a:rPr>
                        <a:t>Tuần 7–8</a:t>
                      </a:r>
                      <a:endParaRPr sz="1000" u="none" cap="none" strike="noStrike">
                        <a:latin typeface="Calibri"/>
                        <a:ea typeface="Calibri"/>
                        <a:cs typeface="Calibri"/>
                        <a:sym typeface="Calibri"/>
                      </a:endParaRPr>
                    </a:p>
                  </a:txBody>
                  <a:tcPr marT="45725" marB="45725" marR="91450" marL="91450">
                    <a:lnL cap="flat" cmpd="sng" w="9525">
                      <a:solidFill>
                        <a:srgbClr val="1A3E5C"/>
                      </a:solidFill>
                      <a:prstDash val="solid"/>
                      <a:round/>
                      <a:headEnd len="sm" w="sm" type="none"/>
                      <a:tailEnd len="sm" w="sm" type="none"/>
                    </a:lnL>
                    <a:lnR cap="flat" cmpd="sng" w="9525">
                      <a:solidFill>
                        <a:srgbClr val="1A3E5C"/>
                      </a:solidFill>
                      <a:prstDash val="solid"/>
                      <a:round/>
                      <a:headEnd len="sm" w="sm" type="none"/>
                      <a:tailEnd len="sm" w="sm" type="none"/>
                    </a:lnR>
                    <a:lnT cap="flat" cmpd="sng" w="9525">
                      <a:solidFill>
                        <a:srgbClr val="1A3E5C"/>
                      </a:solidFill>
                      <a:prstDash val="solid"/>
                      <a:round/>
                      <a:headEnd len="sm" w="sm" type="none"/>
                      <a:tailEnd len="sm" w="sm" type="none"/>
                    </a:lnT>
                    <a:lnB cap="flat" cmpd="sng" w="9525">
                      <a:solidFill>
                        <a:srgbClr val="1A3E5C"/>
                      </a:solidFill>
                      <a:prstDash val="solid"/>
                      <a:round/>
                      <a:headEnd len="sm" w="sm" type="none"/>
                      <a:tailEnd len="sm" w="sm" type="none"/>
                    </a:lnB>
                    <a:solidFill>
                      <a:srgbClr val="0A3550"/>
                    </a:solidFill>
                  </a:tcPr>
                </a:tc>
              </a:tr>
            </a:tbl>
          </a:graphicData>
        </a:graphic>
      </p:graphicFrame>
      <p:sp>
        <p:nvSpPr>
          <p:cNvPr id="214" name="Google Shape;214;p9"/>
          <p:cNvSpPr/>
          <p:nvPr/>
        </p:nvSpPr>
        <p:spPr>
          <a:xfrm>
            <a:off x="457200" y="3438144"/>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050"/>
              <a:buFont typeface="Trebuchet MS"/>
              <a:buNone/>
            </a:pPr>
            <a:r>
              <a:rPr b="1" i="0" lang="en-US" sz="1050" u="none" cap="none" strike="noStrike">
                <a:solidFill>
                  <a:srgbClr val="A8D8EA"/>
                </a:solidFill>
                <a:latin typeface="Trebuchet MS"/>
                <a:ea typeface="Trebuchet MS"/>
                <a:cs typeface="Trebuchet MS"/>
                <a:sym typeface="Trebuchet MS"/>
              </a:rPr>
              <a:t>Bước tiếp theo ngay sau Day 15:</a:t>
            </a:r>
            <a:endParaRPr b="0" i="0" sz="1050" u="none" cap="none" strike="noStrike">
              <a:solidFill>
                <a:schemeClr val="dk1"/>
              </a:solidFill>
              <a:latin typeface="Calibri"/>
              <a:ea typeface="Calibri"/>
              <a:cs typeface="Calibri"/>
              <a:sym typeface="Calibri"/>
            </a:endParaRPr>
          </a:p>
        </p:txBody>
      </p:sp>
      <p:sp>
        <p:nvSpPr>
          <p:cNvPr id="215" name="Google Shape;215;p9"/>
          <p:cNvSpPr/>
          <p:nvPr/>
        </p:nvSpPr>
        <p:spPr>
          <a:xfrm>
            <a:off x="457200" y="3822192"/>
            <a:ext cx="164592" cy="16459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713232" y="3785616"/>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Liên hệ 1 bệnh viện nhỏ để validate use case (user interview)</a:t>
            </a:r>
            <a:endParaRPr b="0" i="0" sz="1000" u="none" cap="none" strike="noStrike">
              <a:solidFill>
                <a:schemeClr val="dk1"/>
              </a:solidFill>
              <a:latin typeface="Calibri"/>
              <a:ea typeface="Calibri"/>
              <a:cs typeface="Calibri"/>
              <a:sym typeface="Calibri"/>
            </a:endParaRPr>
          </a:p>
        </p:txBody>
      </p:sp>
      <p:sp>
        <p:nvSpPr>
          <p:cNvPr id="217" name="Google Shape;217;p9"/>
          <p:cNvSpPr/>
          <p:nvPr/>
        </p:nvSpPr>
        <p:spPr>
          <a:xfrm>
            <a:off x="457200" y="4169664"/>
            <a:ext cx="164592" cy="16459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713232" y="4133088"/>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Setup Ollama on-prem làm fallback model</a:t>
            </a:r>
            <a:endParaRPr b="0" i="0" sz="1000" u="none" cap="none" strike="noStrike">
              <a:solidFill>
                <a:schemeClr val="dk1"/>
              </a:solidFill>
              <a:latin typeface="Calibri"/>
              <a:ea typeface="Calibri"/>
              <a:cs typeface="Calibri"/>
              <a:sym typeface="Calibri"/>
            </a:endParaRPr>
          </a:p>
        </p:txBody>
      </p:sp>
      <p:sp>
        <p:nvSpPr>
          <p:cNvPr id="219" name="Google Shape;219;p9"/>
          <p:cNvSpPr/>
          <p:nvPr/>
        </p:nvSpPr>
        <p:spPr>
          <a:xfrm>
            <a:off x="457200" y="4517136"/>
            <a:ext cx="164592" cy="16459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713232" y="4480560"/>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Implement semantic caching prototype từ codebase Lab 14</a:t>
            </a:r>
            <a:endParaRPr b="0" i="0" sz="1000" u="none" cap="none" strike="noStrike">
              <a:solidFill>
                <a:schemeClr val="dk1"/>
              </a:solidFill>
              <a:latin typeface="Calibri"/>
              <a:ea typeface="Calibri"/>
              <a:cs typeface="Calibri"/>
              <a:sym typeface="Calibri"/>
            </a:endParaRPr>
          </a:p>
        </p:txBody>
      </p:sp>
      <p:sp>
        <p:nvSpPr>
          <p:cNvPr id="221" name="Google Shape;221;p9"/>
          <p:cNvSpPr/>
          <p:nvPr/>
        </p:nvSpPr>
        <p:spPr>
          <a:xfrm>
            <a:off x="4663440" y="3438144"/>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1050"/>
              <a:buFont typeface="Trebuchet MS"/>
              <a:buNone/>
            </a:pPr>
            <a:r>
              <a:rPr b="1" i="0" lang="en-US" sz="1050" u="none" cap="none" strike="noStrike">
                <a:solidFill>
                  <a:srgbClr val="A8D8EA"/>
                </a:solidFill>
                <a:latin typeface="Trebuchet MS"/>
                <a:ea typeface="Trebuchet MS"/>
                <a:cs typeface="Trebuchet MS"/>
                <a:sym typeface="Trebuchet MS"/>
              </a:rPr>
              <a:t>Success Metrics Phase 2:</a:t>
            </a:r>
            <a:endParaRPr b="0" i="0" sz="1050" u="none" cap="none" strike="noStrike">
              <a:solidFill>
                <a:schemeClr val="dk1"/>
              </a:solidFill>
              <a:latin typeface="Calibri"/>
              <a:ea typeface="Calibri"/>
              <a:cs typeface="Calibri"/>
              <a:sym typeface="Calibri"/>
            </a:endParaRPr>
          </a:p>
        </p:txBody>
      </p:sp>
      <p:sp>
        <p:nvSpPr>
          <p:cNvPr id="222" name="Google Shape;222;p9"/>
          <p:cNvSpPr/>
          <p:nvPr/>
        </p:nvSpPr>
        <p:spPr>
          <a:xfrm>
            <a:off x="4663440" y="3767328"/>
            <a:ext cx="1005840" cy="1097280"/>
          </a:xfrm>
          <a:prstGeom prst="rect">
            <a:avLst/>
          </a:prstGeom>
          <a:solidFill>
            <a:srgbClr val="FFFFFF">
              <a:alpha val="10196"/>
            </a:srgbClr>
          </a:solidFill>
          <a:ln cap="flat" cmpd="sng" w="12700">
            <a:solidFill>
              <a:srgbClr val="FFF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4709160" y="384048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400"/>
              <a:buFont typeface="Trebuchet MS"/>
              <a:buNone/>
            </a:pPr>
            <a:r>
              <a:rPr b="1" i="0" lang="en-US" sz="1400" u="none" cap="none" strike="noStrike">
                <a:solidFill>
                  <a:srgbClr val="00A896"/>
                </a:solidFill>
                <a:latin typeface="Trebuchet MS"/>
                <a:ea typeface="Trebuchet MS"/>
                <a:cs typeface="Trebuchet MS"/>
                <a:sym typeface="Trebuchet MS"/>
              </a:rPr>
              <a:t>&lt; 2s</a:t>
            </a:r>
            <a:endParaRPr b="0" i="0" sz="1400" u="none" cap="none" strike="noStrike">
              <a:solidFill>
                <a:schemeClr val="dk1"/>
              </a:solidFill>
              <a:latin typeface="Calibri"/>
              <a:ea typeface="Calibri"/>
              <a:cs typeface="Calibri"/>
              <a:sym typeface="Calibri"/>
            </a:endParaRPr>
          </a:p>
        </p:txBody>
      </p:sp>
      <p:sp>
        <p:nvSpPr>
          <p:cNvPr id="224" name="Google Shape;224;p9"/>
          <p:cNvSpPr/>
          <p:nvPr/>
        </p:nvSpPr>
        <p:spPr>
          <a:xfrm>
            <a:off x="4709160" y="429768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8EA"/>
              </a:buClr>
              <a:buSzPts val="850"/>
              <a:buFont typeface="Calibri"/>
              <a:buNone/>
            </a:pPr>
            <a:r>
              <a:rPr b="0" i="0" lang="en-US" sz="850" u="none" cap="none" strike="noStrike">
                <a:solidFill>
                  <a:srgbClr val="A8D8EA"/>
                </a:solidFill>
                <a:latin typeface="Calibri"/>
                <a:ea typeface="Calibri"/>
                <a:cs typeface="Calibri"/>
                <a:sym typeface="Calibri"/>
              </a:rPr>
              <a:t>p95 latency</a:t>
            </a:r>
            <a:endParaRPr b="0" i="0" sz="850" u="none" cap="none" strike="noStrike">
              <a:solidFill>
                <a:schemeClr val="dk1"/>
              </a:solidFill>
              <a:latin typeface="Calibri"/>
              <a:ea typeface="Calibri"/>
              <a:cs typeface="Calibri"/>
              <a:sym typeface="Calibri"/>
            </a:endParaRPr>
          </a:p>
        </p:txBody>
      </p:sp>
      <p:sp>
        <p:nvSpPr>
          <p:cNvPr id="225" name="Google Shape;225;p9"/>
          <p:cNvSpPr/>
          <p:nvPr/>
        </p:nvSpPr>
        <p:spPr>
          <a:xfrm>
            <a:off x="5779008" y="3767328"/>
            <a:ext cx="1005840" cy="1097280"/>
          </a:xfrm>
          <a:prstGeom prst="rect">
            <a:avLst/>
          </a:prstGeom>
          <a:solidFill>
            <a:srgbClr val="FFFFFF">
              <a:alpha val="10196"/>
            </a:srgbClr>
          </a:solidFill>
          <a:ln cap="flat" cmpd="sng" w="12700">
            <a:solidFill>
              <a:srgbClr val="FFF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5824728" y="384048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400"/>
              <a:buFont typeface="Trebuchet MS"/>
              <a:buNone/>
            </a:pPr>
            <a:r>
              <a:rPr b="1" i="0" lang="en-US" sz="1400" u="none" cap="none" strike="noStrike">
                <a:solidFill>
                  <a:srgbClr val="00A896"/>
                </a:solidFill>
                <a:latin typeface="Trebuchet MS"/>
                <a:ea typeface="Trebuchet MS"/>
                <a:cs typeface="Trebuchet MS"/>
                <a:sym typeface="Trebuchet MS"/>
              </a:rPr>
              <a:t>&lt; 5%</a:t>
            </a:r>
            <a:endParaRPr b="0" i="0" sz="1400" u="none" cap="none" strike="noStrike">
              <a:solidFill>
                <a:schemeClr val="dk1"/>
              </a:solidFill>
              <a:latin typeface="Calibri"/>
              <a:ea typeface="Calibri"/>
              <a:cs typeface="Calibri"/>
              <a:sym typeface="Calibri"/>
            </a:endParaRPr>
          </a:p>
        </p:txBody>
      </p:sp>
      <p:sp>
        <p:nvSpPr>
          <p:cNvPr id="227" name="Google Shape;227;p9"/>
          <p:cNvSpPr/>
          <p:nvPr/>
        </p:nvSpPr>
        <p:spPr>
          <a:xfrm>
            <a:off x="5824728" y="429768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8EA"/>
              </a:buClr>
              <a:buSzPts val="850"/>
              <a:buFont typeface="Calibri"/>
              <a:buNone/>
            </a:pPr>
            <a:r>
              <a:rPr b="0" i="0" lang="en-US" sz="850" u="none" cap="none" strike="noStrike">
                <a:solidFill>
                  <a:srgbClr val="A8D8EA"/>
                </a:solidFill>
                <a:latin typeface="Calibri"/>
                <a:ea typeface="Calibri"/>
                <a:cs typeface="Calibri"/>
                <a:sym typeface="Calibri"/>
              </a:rPr>
              <a:t>Human review</a:t>
            </a:r>
            <a:endParaRPr b="0" i="0" sz="850" u="none" cap="none" strike="noStrike">
              <a:solidFill>
                <a:schemeClr val="dk1"/>
              </a:solidFill>
              <a:latin typeface="Calibri"/>
              <a:ea typeface="Calibri"/>
              <a:cs typeface="Calibri"/>
              <a:sym typeface="Calibri"/>
            </a:endParaRPr>
          </a:p>
        </p:txBody>
      </p:sp>
      <p:sp>
        <p:nvSpPr>
          <p:cNvPr id="228" name="Google Shape;228;p9"/>
          <p:cNvSpPr/>
          <p:nvPr/>
        </p:nvSpPr>
        <p:spPr>
          <a:xfrm>
            <a:off x="6894576" y="3767328"/>
            <a:ext cx="1005840" cy="1097280"/>
          </a:xfrm>
          <a:prstGeom prst="rect">
            <a:avLst/>
          </a:prstGeom>
          <a:solidFill>
            <a:srgbClr val="FFFFFF">
              <a:alpha val="10196"/>
            </a:srgbClr>
          </a:solidFill>
          <a:ln cap="flat" cmpd="sng" w="12700">
            <a:solidFill>
              <a:srgbClr val="FFF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6940296" y="384048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400"/>
              <a:buFont typeface="Trebuchet MS"/>
              <a:buNone/>
            </a:pPr>
            <a:r>
              <a:rPr b="1" i="0" lang="en-US" sz="1400" u="none" cap="none" strike="noStrike">
                <a:solidFill>
                  <a:srgbClr val="00A896"/>
                </a:solidFill>
                <a:latin typeface="Trebuchet MS"/>
                <a:ea typeface="Trebuchet MS"/>
                <a:cs typeface="Trebuchet MS"/>
                <a:sym typeface="Trebuchet MS"/>
              </a:rPr>
              <a:t>&lt; $6</a:t>
            </a:r>
            <a:endParaRPr b="0" i="0" sz="1400" u="none" cap="none" strike="noStrike">
              <a:solidFill>
                <a:schemeClr val="dk1"/>
              </a:solidFill>
              <a:latin typeface="Calibri"/>
              <a:ea typeface="Calibri"/>
              <a:cs typeface="Calibri"/>
              <a:sym typeface="Calibri"/>
            </a:endParaRPr>
          </a:p>
        </p:txBody>
      </p:sp>
      <p:sp>
        <p:nvSpPr>
          <p:cNvPr id="230" name="Google Shape;230;p9"/>
          <p:cNvSpPr/>
          <p:nvPr/>
        </p:nvSpPr>
        <p:spPr>
          <a:xfrm>
            <a:off x="6940296" y="429768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8EA"/>
              </a:buClr>
              <a:buSzPts val="850"/>
              <a:buFont typeface="Calibri"/>
              <a:buNone/>
            </a:pPr>
            <a:r>
              <a:rPr b="0" i="0" lang="en-US" sz="850" u="none" cap="none" strike="noStrike">
                <a:solidFill>
                  <a:srgbClr val="A8D8EA"/>
                </a:solidFill>
                <a:latin typeface="Calibri"/>
                <a:ea typeface="Calibri"/>
                <a:cs typeface="Calibri"/>
                <a:sym typeface="Calibri"/>
              </a:rPr>
              <a:t>Cost/user/tháng</a:t>
            </a:r>
            <a:endParaRPr b="0" i="0" sz="850" u="none" cap="none" strike="noStrike">
              <a:solidFill>
                <a:schemeClr val="dk1"/>
              </a:solidFill>
              <a:latin typeface="Calibri"/>
              <a:ea typeface="Calibri"/>
              <a:cs typeface="Calibri"/>
              <a:sym typeface="Calibri"/>
            </a:endParaRPr>
          </a:p>
        </p:txBody>
      </p:sp>
      <p:sp>
        <p:nvSpPr>
          <p:cNvPr id="231" name="Google Shape;231;p9"/>
          <p:cNvSpPr/>
          <p:nvPr/>
        </p:nvSpPr>
        <p:spPr>
          <a:xfrm>
            <a:off x="8010144" y="3767328"/>
            <a:ext cx="1005840" cy="1097280"/>
          </a:xfrm>
          <a:prstGeom prst="rect">
            <a:avLst/>
          </a:prstGeom>
          <a:solidFill>
            <a:srgbClr val="FFFFFF">
              <a:alpha val="10196"/>
            </a:srgbClr>
          </a:solidFill>
          <a:ln cap="flat" cmpd="sng" w="12700">
            <a:solidFill>
              <a:srgbClr val="FFF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8055864" y="3840480"/>
            <a:ext cx="914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400"/>
              <a:buFont typeface="Trebuchet MS"/>
              <a:buNone/>
            </a:pPr>
            <a:r>
              <a:rPr b="1" i="0" lang="en-US" sz="1400" u="none" cap="none" strike="noStrike">
                <a:solidFill>
                  <a:srgbClr val="00A896"/>
                </a:solidFill>
                <a:latin typeface="Trebuchet MS"/>
                <a:ea typeface="Trebuchet MS"/>
                <a:cs typeface="Trebuchet MS"/>
                <a:sym typeface="Trebuchet MS"/>
              </a:rPr>
              <a:t>99.5%+</a:t>
            </a:r>
            <a:endParaRPr b="0" i="0" sz="1400" u="none" cap="none" strike="noStrike">
              <a:solidFill>
                <a:schemeClr val="dk1"/>
              </a:solidFill>
              <a:latin typeface="Calibri"/>
              <a:ea typeface="Calibri"/>
              <a:cs typeface="Calibri"/>
              <a:sym typeface="Calibri"/>
            </a:endParaRPr>
          </a:p>
        </p:txBody>
      </p:sp>
      <p:sp>
        <p:nvSpPr>
          <p:cNvPr id="233" name="Google Shape;233;p9"/>
          <p:cNvSpPr/>
          <p:nvPr/>
        </p:nvSpPr>
        <p:spPr>
          <a:xfrm>
            <a:off x="8055864" y="429768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8EA"/>
              </a:buClr>
              <a:buSzPts val="850"/>
              <a:buFont typeface="Calibri"/>
              <a:buNone/>
            </a:pPr>
            <a:r>
              <a:rPr b="0" i="0" lang="en-US" sz="850" u="none" cap="none" strike="noStrike">
                <a:solidFill>
                  <a:srgbClr val="A8D8EA"/>
                </a:solidFill>
                <a:latin typeface="Calibri"/>
                <a:ea typeface="Calibri"/>
                <a:cs typeface="Calibri"/>
                <a:sym typeface="Calibri"/>
              </a:rPr>
              <a:t>Uptime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